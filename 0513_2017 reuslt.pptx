
<file path=[Content_Types].xml><?xml version="1.0" encoding="utf-8"?>
<Types xmlns="http://schemas.openxmlformats.org/package/2006/content-types"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69" r:id="rId3"/>
    <p:sldId id="270" r:id="rId4"/>
    <p:sldId id="272" r:id="rId5"/>
    <p:sldId id="273" r:id="rId6"/>
    <p:sldId id="275" r:id="rId7"/>
    <p:sldId id="276" r:id="rId8"/>
    <p:sldId id="277" r:id="rId9"/>
    <p:sldId id="274" r:id="rId10"/>
    <p:sldId id="278" r:id="rId11"/>
    <p:sldId id="281" r:id="rId12"/>
    <p:sldId id="279" r:id="rId13"/>
    <p:sldId id="280" r:id="rId14"/>
    <p:sldId id="282" r:id="rId15"/>
    <p:sldId id="283" r:id="rId16"/>
    <p:sldId id="284" r:id="rId17"/>
    <p:sldId id="28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515" autoAdjust="0"/>
  </p:normalViewPr>
  <p:slideViewPr>
    <p:cSldViewPr snapToGrid="0">
      <p:cViewPr varScale="1">
        <p:scale>
          <a:sx n="65" d="100"/>
          <a:sy n="65" d="100"/>
        </p:scale>
        <p:origin x="702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Jiamin_Sun\EbackUp\3D%20visualization%20and%20animation\0225_2017experiment\rating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Jiamin_Sun\EbackUp\3D%20visualization%20and%20animation\0225_2017experiment\rating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E:\3D%20visualization%20and%20animation\0225_2017experiment\rating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E:\3D%20visualization%20and%20animation\0225_2017experiment\rating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E:\3D%20visualization%20and%20animation\0513_2017dataAnalysis\analysisexcel\rating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E:\3D%20visualization%20and%20animation\0513_2017dataAnalysis\analysisexcel\rating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E:\3D%20visualization%20and%20animation\0513_2017dataAnalysis\analysisexcel\rating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text accuracy</c:v>
                </c:pt>
              </c:strCache>
            </c:strRef>
          </c:tx>
          <c:spPr>
            <a:ln w="1270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val>
            <c:numRef>
              <c:f>Sheet1!$B$8:$E$8</c:f>
              <c:numCache>
                <c:formatCode>General</c:formatCode>
                <c:ptCount val="4"/>
                <c:pt idx="0">
                  <c:v>164.5</c:v>
                </c:pt>
                <c:pt idx="1">
                  <c:v>143.5</c:v>
                </c:pt>
                <c:pt idx="2">
                  <c:v>145</c:v>
                </c:pt>
                <c:pt idx="3">
                  <c:v>164.5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F51-4EA4-B7DC-1DC9EBBF7BCD}"/>
            </c:ext>
          </c:extLst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text accuracy(i)</c:v>
                </c:pt>
              </c:strCache>
            </c:strRef>
          </c:tx>
          <c:spPr>
            <a:ln w="1270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val>
            <c:numRef>
              <c:f>Sheet1!$B$10:$E$10</c:f>
              <c:numCache>
                <c:formatCode>General</c:formatCode>
                <c:ptCount val="4"/>
                <c:pt idx="0">
                  <c:v>132.5</c:v>
                </c:pt>
                <c:pt idx="1">
                  <c:v>134</c:v>
                </c:pt>
                <c:pt idx="2">
                  <c:v>142</c:v>
                </c:pt>
                <c:pt idx="3">
                  <c:v>153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F51-4EA4-B7DC-1DC9EBBF7B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229920"/>
        <c:axId val="883234080"/>
      </c:lineChart>
      <c:catAx>
        <c:axId val="88322992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3234080"/>
        <c:crosses val="autoZero"/>
        <c:auto val="1"/>
        <c:lblAlgn val="ctr"/>
        <c:lblOffset val="100"/>
        <c:noMultiLvlLbl val="0"/>
      </c:catAx>
      <c:valAx>
        <c:axId val="8832340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32299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image dis</c:v>
                </c:pt>
              </c:strCache>
            </c:strRef>
          </c:tx>
          <c:spPr>
            <a:ln w="1270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val>
            <c:numRef>
              <c:f>Sheet1!$B$9:$E$9</c:f>
              <c:numCache>
                <c:formatCode>General</c:formatCode>
                <c:ptCount val="4"/>
                <c:pt idx="0">
                  <c:v>0.71399999999999997</c:v>
                </c:pt>
                <c:pt idx="1">
                  <c:v>0.93</c:v>
                </c:pt>
                <c:pt idx="2">
                  <c:v>0.78</c:v>
                </c:pt>
                <c:pt idx="3">
                  <c:v>0.85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F93-4C1D-A378-BA0F068BF403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image dis(i)</c:v>
                </c:pt>
              </c:strCache>
            </c:strRef>
          </c:tx>
          <c:spPr>
            <a:ln w="1270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val>
            <c:numRef>
              <c:f>Sheet1!$B$11:$E$11</c:f>
              <c:numCache>
                <c:formatCode>General</c:formatCode>
                <c:ptCount val="4"/>
                <c:pt idx="0">
                  <c:v>0.75</c:v>
                </c:pt>
                <c:pt idx="1">
                  <c:v>0.75</c:v>
                </c:pt>
                <c:pt idx="2">
                  <c:v>0.5</c:v>
                </c:pt>
                <c:pt idx="3">
                  <c:v>0.75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F93-4C1D-A378-BA0F068BF4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229920"/>
        <c:axId val="883234080"/>
      </c:lineChart>
      <c:catAx>
        <c:axId val="88322992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3234080"/>
        <c:crosses val="autoZero"/>
        <c:auto val="1"/>
        <c:lblAlgn val="ctr"/>
        <c:lblOffset val="100"/>
        <c:noMultiLvlLbl val="0"/>
      </c:catAx>
      <c:valAx>
        <c:axId val="8832340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32299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text accuracy(paper)</c:v>
                </c:pt>
              </c:strCache>
            </c:strRef>
          </c:tx>
          <c:spPr>
            <a:ln w="1270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val>
            <c:numRef>
              <c:f>Sheet1!$B$8:$F$8</c:f>
              <c:numCache>
                <c:formatCode>General</c:formatCode>
                <c:ptCount val="5"/>
                <c:pt idx="0">
                  <c:v>164.5</c:v>
                </c:pt>
                <c:pt idx="1">
                  <c:v>143.5</c:v>
                </c:pt>
                <c:pt idx="2">
                  <c:v>145</c:v>
                </c:pt>
                <c:pt idx="3">
                  <c:v>164.5</c:v>
                </c:pt>
                <c:pt idx="4">
                  <c:v>151.5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D4A-4E24-86F7-27F4E1FAFAE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text accuracy(ipad)</c:v>
                </c:pt>
              </c:strCache>
            </c:strRef>
          </c:tx>
          <c:spPr>
            <a:ln w="1270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val>
            <c:numRef>
              <c:f>Sheet1!$B$10:$F$10</c:f>
              <c:numCache>
                <c:formatCode>General</c:formatCode>
                <c:ptCount val="5"/>
                <c:pt idx="0">
                  <c:v>132.5</c:v>
                </c:pt>
                <c:pt idx="1">
                  <c:v>134</c:v>
                </c:pt>
                <c:pt idx="2">
                  <c:v>142</c:v>
                </c:pt>
                <c:pt idx="3">
                  <c:v>153</c:v>
                </c:pt>
                <c:pt idx="4">
                  <c:v>143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D4A-4E24-86F7-27F4E1FAFA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229920"/>
        <c:axId val="883234080"/>
      </c:lineChart>
      <c:catAx>
        <c:axId val="88322992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3234080"/>
        <c:crosses val="autoZero"/>
        <c:auto val="1"/>
        <c:lblAlgn val="ctr"/>
        <c:lblOffset val="100"/>
        <c:noMultiLvlLbl val="0"/>
      </c:catAx>
      <c:valAx>
        <c:axId val="8832340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32299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image(paper)</c:v>
                </c:pt>
              </c:strCache>
            </c:strRef>
          </c:tx>
          <c:spPr>
            <a:ln w="1270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val>
            <c:numRef>
              <c:f>Sheet1!$B$9:$F$9</c:f>
              <c:numCache>
                <c:formatCode>General</c:formatCode>
                <c:ptCount val="5"/>
                <c:pt idx="0">
                  <c:v>0.71399999999999997</c:v>
                </c:pt>
                <c:pt idx="1">
                  <c:v>0.93</c:v>
                </c:pt>
                <c:pt idx="2">
                  <c:v>0.78</c:v>
                </c:pt>
                <c:pt idx="3">
                  <c:v>0.85</c:v>
                </c:pt>
                <c:pt idx="4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059-4B67-998D-6F3EE28EF3AB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image(ipad)</c:v>
                </c:pt>
              </c:strCache>
            </c:strRef>
          </c:tx>
          <c:spPr>
            <a:ln w="1270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val>
            <c:numRef>
              <c:f>Sheet1!$B$11:$F$11</c:f>
              <c:numCache>
                <c:formatCode>General</c:formatCode>
                <c:ptCount val="5"/>
                <c:pt idx="0">
                  <c:v>0.75</c:v>
                </c:pt>
                <c:pt idx="1">
                  <c:v>0.75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059-4B67-998D-6F3EE28EF3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229920"/>
        <c:axId val="883234080"/>
      </c:lineChart>
      <c:catAx>
        <c:axId val="883229920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3234080"/>
        <c:crosses val="autoZero"/>
        <c:auto val="1"/>
        <c:lblAlgn val="ctr"/>
        <c:lblOffset val="100"/>
        <c:noMultiLvlLbl val="0"/>
      </c:catAx>
      <c:valAx>
        <c:axId val="8832340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32299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Sheet1!$A$1</c:f>
              <c:strCache>
                <c:ptCount val="1"/>
                <c:pt idx="0">
                  <c:v>text accuracy(paper)</c:v>
                </c:pt>
              </c:strCache>
            </c:strRef>
          </c:tx>
          <c:spPr>
            <a:ln w="1270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val>
            <c:numRef>
              <c:f>Sheet1!$B$8:$I$8</c:f>
              <c:numCache>
                <c:formatCode>General</c:formatCode>
                <c:ptCount val="8"/>
                <c:pt idx="0">
                  <c:v>164.5</c:v>
                </c:pt>
                <c:pt idx="1">
                  <c:v>143.5</c:v>
                </c:pt>
                <c:pt idx="2">
                  <c:v>145</c:v>
                </c:pt>
                <c:pt idx="3">
                  <c:v>164.5</c:v>
                </c:pt>
                <c:pt idx="4">
                  <c:v>151.5</c:v>
                </c:pt>
                <c:pt idx="5">
                  <c:v>144.5</c:v>
                </c:pt>
                <c:pt idx="6">
                  <c:v>129.5</c:v>
                </c:pt>
                <c:pt idx="7">
                  <c:v>153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006-473C-B434-937371D68CF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text accuracy(ipad)</c:v>
                </c:pt>
              </c:strCache>
            </c:strRef>
          </c:tx>
          <c:spPr>
            <a:ln w="1270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val>
            <c:numRef>
              <c:f>Sheet1!$B$10:$I$10</c:f>
              <c:numCache>
                <c:formatCode>General</c:formatCode>
                <c:ptCount val="8"/>
                <c:pt idx="0">
                  <c:v>132.5</c:v>
                </c:pt>
                <c:pt idx="1">
                  <c:v>134</c:v>
                </c:pt>
                <c:pt idx="2">
                  <c:v>142</c:v>
                </c:pt>
                <c:pt idx="3">
                  <c:v>153</c:v>
                </c:pt>
                <c:pt idx="4">
                  <c:v>143</c:v>
                </c:pt>
                <c:pt idx="5">
                  <c:v>159</c:v>
                </c:pt>
                <c:pt idx="6">
                  <c:v>130.5</c:v>
                </c:pt>
                <c:pt idx="7">
                  <c:v>161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006-473C-B434-937371D68C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229920"/>
        <c:axId val="883234080"/>
      </c:lineChart>
      <c:catAx>
        <c:axId val="88322992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Number of test cases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3234080"/>
        <c:crosses val="autoZero"/>
        <c:auto val="1"/>
        <c:lblAlgn val="ctr"/>
        <c:lblOffset val="100"/>
        <c:noMultiLvlLbl val="0"/>
      </c:catAx>
      <c:valAx>
        <c:axId val="8832340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Accuracy/minute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32299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image(paper)</c:v>
                </c:pt>
              </c:strCache>
            </c:strRef>
          </c:tx>
          <c:spPr>
            <a:ln w="1270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val>
            <c:numRef>
              <c:f>Sheet1!$B$9:$I$9</c:f>
              <c:numCache>
                <c:formatCode>General</c:formatCode>
                <c:ptCount val="8"/>
                <c:pt idx="0">
                  <c:v>0.71399999999999997</c:v>
                </c:pt>
                <c:pt idx="1">
                  <c:v>0.93</c:v>
                </c:pt>
                <c:pt idx="2">
                  <c:v>0.78</c:v>
                </c:pt>
                <c:pt idx="3">
                  <c:v>0.85</c:v>
                </c:pt>
                <c:pt idx="4">
                  <c:v>1</c:v>
                </c:pt>
                <c:pt idx="5">
                  <c:v>0.56999999999999995</c:v>
                </c:pt>
                <c:pt idx="6">
                  <c:v>0.71399999999999997</c:v>
                </c:pt>
                <c:pt idx="7">
                  <c:v>0.78600000000000003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E66-4EF8-88EC-805888941495}"/>
            </c:ext>
          </c:extLst>
        </c:ser>
        <c:ser>
          <c:idx val="1"/>
          <c:order val="1"/>
          <c:tx>
            <c:strRef>
              <c:f>Sheet1!$D$1</c:f>
              <c:strCache>
                <c:ptCount val="1"/>
                <c:pt idx="0">
                  <c:v>image(ipad)</c:v>
                </c:pt>
              </c:strCache>
            </c:strRef>
          </c:tx>
          <c:spPr>
            <a:ln w="1270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val>
            <c:numRef>
              <c:f>Sheet1!$B$11:$I$11</c:f>
              <c:numCache>
                <c:formatCode>General</c:formatCode>
                <c:ptCount val="8"/>
                <c:pt idx="0">
                  <c:v>0.75</c:v>
                </c:pt>
                <c:pt idx="1">
                  <c:v>0.75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  <c:pt idx="5">
                  <c:v>0.5</c:v>
                </c:pt>
                <c:pt idx="6">
                  <c:v>0.625</c:v>
                </c:pt>
                <c:pt idx="7">
                  <c:v>0.875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E66-4EF8-88EC-8058889414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229920"/>
        <c:axId val="883234080"/>
      </c:lineChart>
      <c:catAx>
        <c:axId val="88322992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Number of test cases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3234080"/>
        <c:crosses val="autoZero"/>
        <c:auto val="1"/>
        <c:lblAlgn val="ctr"/>
        <c:lblOffset val="100"/>
        <c:noMultiLvlLbl val="0"/>
      </c:catAx>
      <c:valAx>
        <c:axId val="8832340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Accuracy/minute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32299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Preference from reading</a:t>
            </a:r>
            <a:r>
              <a:rPr lang="en-US" baseline="0"/>
              <a:t> on paper to electric surfaces: from 1 to 5</a:t>
            </a:r>
            <a:endParaRPr lang="en-US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F85-4F66-9ED9-C853481F981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F85-4F66-9ED9-C853481F981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F85-4F66-9ED9-C853481F9816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F85-4F66-9ED9-C853481F9816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0F85-4F66-9ED9-C853481F9816}"/>
              </c:ext>
            </c:extLst>
          </c:dPt>
          <c:val>
            <c:numRef>
              <c:f>Sheet1!$B$14:$B$18</c:f>
              <c:numCache>
                <c:formatCode>General</c:formatCode>
                <c:ptCount val="5"/>
                <c:pt idx="0">
                  <c:v>1</c:v>
                </c:pt>
                <c:pt idx="1">
                  <c:v>0</c:v>
                </c:pt>
                <c:pt idx="2">
                  <c:v>1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F85-4F66-9ED9-C853481F98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F4B3FD-5CA6-4F8D-87DB-923C724B26AD}" type="datetimeFigureOut">
              <a:rPr lang="en-US" smtClean="0"/>
              <a:t>5/21/2017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3DA5E-4F1F-4F9D-A982-7D5FFAF79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935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3DA5E-4F1F-4F9D-A982-7D5FFAF79C4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6965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3DA5E-4F1F-4F9D-A982-7D5FFAF79C4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86840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3DA5E-4F1F-4F9D-A982-7D5FFAF79C4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3595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3DA5E-4F1F-4F9D-A982-7D5FFAF79C4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5459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3DA5E-4F1F-4F9D-A982-7D5FFAF79C4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5365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3DA5E-4F1F-4F9D-A982-7D5FFAF79C4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6809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3DA5E-4F1F-4F9D-A982-7D5FFAF79C4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70548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3DA5E-4F1F-4F9D-A982-7D5FFAF79C4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4319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3DA5E-4F1F-4F9D-A982-7D5FFAF79C4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7911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3DA5E-4F1F-4F9D-A982-7D5FFAF79C4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6149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3DA5E-4F1F-4F9D-A982-7D5FFAF79C4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9189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3DA5E-4F1F-4F9D-A982-7D5FFAF79C4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8871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3DA5E-4F1F-4F9D-A982-7D5FFAF79C4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2472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3DA5E-4F1F-4F9D-A982-7D5FFAF79C4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2992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3DA5E-4F1F-4F9D-A982-7D5FFAF79C4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2303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3DA5E-4F1F-4F9D-A982-7D5FFAF79C4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9548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63DA5E-4F1F-4F9D-A982-7D5FFAF79C4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1565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B8F32-33AF-47F0-AE00-4D33ACB67E6E}" type="datetimeFigureOut">
              <a:rPr lang="en-US" smtClean="0"/>
              <a:t>5/21/2017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1F025-ABE3-4A13-926C-560588D8B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789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B8F32-33AF-47F0-AE00-4D33ACB67E6E}" type="datetimeFigureOut">
              <a:rPr lang="en-US" smtClean="0"/>
              <a:t>5/21/2017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1F025-ABE3-4A13-926C-560588D8B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070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B8F32-33AF-47F0-AE00-4D33ACB67E6E}" type="datetimeFigureOut">
              <a:rPr lang="en-US" smtClean="0"/>
              <a:t>5/21/2017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1F025-ABE3-4A13-926C-560588D8B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172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B8F32-33AF-47F0-AE00-4D33ACB67E6E}" type="datetimeFigureOut">
              <a:rPr lang="en-US" smtClean="0"/>
              <a:t>5/21/2017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1F025-ABE3-4A13-926C-560588D8B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01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B8F32-33AF-47F0-AE00-4D33ACB67E6E}" type="datetimeFigureOut">
              <a:rPr lang="en-US" smtClean="0"/>
              <a:t>5/21/2017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1F025-ABE3-4A13-926C-560588D8B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815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B8F32-33AF-47F0-AE00-4D33ACB67E6E}" type="datetimeFigureOut">
              <a:rPr lang="en-US" smtClean="0"/>
              <a:t>5/21/2017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1F025-ABE3-4A13-926C-560588D8B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56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B8F32-33AF-47F0-AE00-4D33ACB67E6E}" type="datetimeFigureOut">
              <a:rPr lang="en-US" smtClean="0"/>
              <a:t>5/21/2017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1F025-ABE3-4A13-926C-560588D8B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292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B8F32-33AF-47F0-AE00-4D33ACB67E6E}" type="datetimeFigureOut">
              <a:rPr lang="en-US" smtClean="0"/>
              <a:t>5/21/2017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1F025-ABE3-4A13-926C-560588D8B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800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B8F32-33AF-47F0-AE00-4D33ACB67E6E}" type="datetimeFigureOut">
              <a:rPr lang="en-US" smtClean="0"/>
              <a:t>5/21/2017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1F025-ABE3-4A13-926C-560588D8B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5475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B8F32-33AF-47F0-AE00-4D33ACB67E6E}" type="datetimeFigureOut">
              <a:rPr lang="en-US" smtClean="0"/>
              <a:t>5/21/2017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1F025-ABE3-4A13-926C-560588D8B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251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B8F32-33AF-47F0-AE00-4D33ACB67E6E}" type="datetimeFigureOut">
              <a:rPr lang="en-US" smtClean="0"/>
              <a:t>5/21/2017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B1F025-ABE3-4A13-926C-560588D8B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298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DB8F32-33AF-47F0-AE00-4D33ACB67E6E}" type="datetimeFigureOut">
              <a:rPr lang="en-US" smtClean="0"/>
              <a:t>5/21/2017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B1F025-ABE3-4A13-926C-560588D8BE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502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JPG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JPG"/><Relationship Id="rId4" Type="http://schemas.openxmlformats.org/officeDocument/2006/relationships/image" Target="../media/image23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7.xml"/><Relationship Id="rId4" Type="http://schemas.openxmlformats.org/officeDocument/2006/relationships/chart" Target="../charts/char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 txBox="1">
            <a:spLocks/>
          </p:cNvSpPr>
          <p:nvPr/>
        </p:nvSpPr>
        <p:spPr>
          <a:xfrm>
            <a:off x="1070421" y="2081795"/>
            <a:ext cx="7065394" cy="630143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r>
              <a:rPr lang="en-US" altLang="zh-CN" sz="2800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Experiment result tracing</a:t>
            </a:r>
            <a:endParaRPr lang="zh-CN" altLang="en-US" sz="28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  <a:p>
            <a:endParaRPr lang="zh-CN" altLang="en-US" sz="28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70421" y="2979615"/>
            <a:ext cx="343095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In working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416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标题 1"/>
          <p:cNvSpPr txBox="1">
            <a:spLocks/>
          </p:cNvSpPr>
          <p:nvPr/>
        </p:nvSpPr>
        <p:spPr>
          <a:xfrm>
            <a:off x="109129" y="385852"/>
            <a:ext cx="7065394" cy="630143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r>
              <a:rPr lang="en-US" altLang="zh-CN" sz="2800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Analysis</a:t>
            </a:r>
            <a:endParaRPr lang="zh-CN" altLang="en-US" sz="28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4741434"/>
              </p:ext>
            </p:extLst>
          </p:nvPr>
        </p:nvGraphicFramePr>
        <p:xfrm>
          <a:off x="227502" y="1015995"/>
          <a:ext cx="6539559" cy="550203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3043">
                  <a:extLst>
                    <a:ext uri="{9D8B030D-6E8A-4147-A177-3AD203B41FA5}">
                      <a16:colId xmlns:a16="http://schemas.microsoft.com/office/drawing/2014/main" val="3572390363"/>
                    </a:ext>
                  </a:extLst>
                </a:gridCol>
                <a:gridCol w="503043">
                  <a:extLst>
                    <a:ext uri="{9D8B030D-6E8A-4147-A177-3AD203B41FA5}">
                      <a16:colId xmlns:a16="http://schemas.microsoft.com/office/drawing/2014/main" val="3696351628"/>
                    </a:ext>
                  </a:extLst>
                </a:gridCol>
                <a:gridCol w="503043">
                  <a:extLst>
                    <a:ext uri="{9D8B030D-6E8A-4147-A177-3AD203B41FA5}">
                      <a16:colId xmlns:a16="http://schemas.microsoft.com/office/drawing/2014/main" val="142890693"/>
                    </a:ext>
                  </a:extLst>
                </a:gridCol>
                <a:gridCol w="503043">
                  <a:extLst>
                    <a:ext uri="{9D8B030D-6E8A-4147-A177-3AD203B41FA5}">
                      <a16:colId xmlns:a16="http://schemas.microsoft.com/office/drawing/2014/main" val="894826100"/>
                    </a:ext>
                  </a:extLst>
                </a:gridCol>
                <a:gridCol w="503043">
                  <a:extLst>
                    <a:ext uri="{9D8B030D-6E8A-4147-A177-3AD203B41FA5}">
                      <a16:colId xmlns:a16="http://schemas.microsoft.com/office/drawing/2014/main" val="4005924225"/>
                    </a:ext>
                  </a:extLst>
                </a:gridCol>
                <a:gridCol w="503043">
                  <a:extLst>
                    <a:ext uri="{9D8B030D-6E8A-4147-A177-3AD203B41FA5}">
                      <a16:colId xmlns:a16="http://schemas.microsoft.com/office/drawing/2014/main" val="295994855"/>
                    </a:ext>
                  </a:extLst>
                </a:gridCol>
                <a:gridCol w="503043">
                  <a:extLst>
                    <a:ext uri="{9D8B030D-6E8A-4147-A177-3AD203B41FA5}">
                      <a16:colId xmlns:a16="http://schemas.microsoft.com/office/drawing/2014/main" val="2322799955"/>
                    </a:ext>
                  </a:extLst>
                </a:gridCol>
                <a:gridCol w="503043">
                  <a:extLst>
                    <a:ext uri="{9D8B030D-6E8A-4147-A177-3AD203B41FA5}">
                      <a16:colId xmlns:a16="http://schemas.microsoft.com/office/drawing/2014/main" val="2838412296"/>
                    </a:ext>
                  </a:extLst>
                </a:gridCol>
                <a:gridCol w="503043">
                  <a:extLst>
                    <a:ext uri="{9D8B030D-6E8A-4147-A177-3AD203B41FA5}">
                      <a16:colId xmlns:a16="http://schemas.microsoft.com/office/drawing/2014/main" val="2740231640"/>
                    </a:ext>
                  </a:extLst>
                </a:gridCol>
                <a:gridCol w="503043">
                  <a:extLst>
                    <a:ext uri="{9D8B030D-6E8A-4147-A177-3AD203B41FA5}">
                      <a16:colId xmlns:a16="http://schemas.microsoft.com/office/drawing/2014/main" val="2845996292"/>
                    </a:ext>
                  </a:extLst>
                </a:gridCol>
                <a:gridCol w="503043">
                  <a:extLst>
                    <a:ext uri="{9D8B030D-6E8A-4147-A177-3AD203B41FA5}">
                      <a16:colId xmlns:a16="http://schemas.microsoft.com/office/drawing/2014/main" val="3589519669"/>
                    </a:ext>
                  </a:extLst>
                </a:gridCol>
                <a:gridCol w="503043">
                  <a:extLst>
                    <a:ext uri="{9D8B030D-6E8A-4147-A177-3AD203B41FA5}">
                      <a16:colId xmlns:a16="http://schemas.microsoft.com/office/drawing/2014/main" val="791380454"/>
                    </a:ext>
                  </a:extLst>
                </a:gridCol>
                <a:gridCol w="503043">
                  <a:extLst>
                    <a:ext uri="{9D8B030D-6E8A-4147-A177-3AD203B41FA5}">
                      <a16:colId xmlns:a16="http://schemas.microsoft.com/office/drawing/2014/main" val="3025873509"/>
                    </a:ext>
                  </a:extLst>
                </a:gridCol>
              </a:tblGrid>
              <a:tr h="15720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case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_1(0225)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888844458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gender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m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3315213048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glass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y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1965028322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vb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vc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va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vd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3990527419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1147420001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9:53:28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9:55:28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9:57:07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9:59:46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10:02:02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10:04:04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10:04:20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10:05:35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10:07:08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10:09:10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10:11:08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10:13:11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4146357744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9:54:22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9:56:25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10:05:25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10:06:42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3043774126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165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164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10(14)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solidFill>
                            <a:srgbClr val="FF0000"/>
                          </a:solidFill>
                          <a:effectLst/>
                        </a:rPr>
                        <a:t>133</a:t>
                      </a:r>
                      <a:endParaRPr lang="en-US" sz="9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solidFill>
                            <a:srgbClr val="FF0000"/>
                          </a:solidFill>
                          <a:effectLst/>
                        </a:rPr>
                        <a:t>132</a:t>
                      </a:r>
                      <a:endParaRPr lang="en-US" sz="9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solidFill>
                            <a:srgbClr val="FF0000"/>
                          </a:solidFill>
                          <a:effectLst/>
                        </a:rPr>
                        <a:t>6(8)</a:t>
                      </a:r>
                      <a:endParaRPr lang="en-US" sz="9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2009357325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3796897627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case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_2(0225)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299614007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gender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m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2493251781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glass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y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50976328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907310879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2529859507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11:09:35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11:10:54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11:12:38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11:14:29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11:16:40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11:18:49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11:21:19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11:22:34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11:23:52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11:25:44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11:27:30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11:29:30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3493800084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11:10:35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11:11:57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11:22:22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11:23:39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3513803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147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140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solidFill>
                            <a:srgbClr val="FF0000"/>
                          </a:solidFill>
                          <a:effectLst/>
                        </a:rPr>
                        <a:t>13(14)</a:t>
                      </a:r>
                      <a:endParaRPr lang="en-US" sz="9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solidFill>
                            <a:srgbClr val="FF0000"/>
                          </a:solidFill>
                          <a:effectLst/>
                        </a:rPr>
                        <a:t>135</a:t>
                      </a:r>
                      <a:endParaRPr lang="en-US" sz="9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solidFill>
                            <a:srgbClr val="FF0000"/>
                          </a:solidFill>
                          <a:effectLst/>
                        </a:rPr>
                        <a:t>133</a:t>
                      </a:r>
                      <a:endParaRPr lang="en-US" sz="9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solidFill>
                            <a:srgbClr val="FF0000"/>
                          </a:solidFill>
                          <a:effectLst/>
                        </a:rPr>
                        <a:t>6(8)</a:t>
                      </a:r>
                      <a:endParaRPr lang="en-US" sz="9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1959261086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1844122737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case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_3(0225)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138368438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gender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f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348793992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glass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n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978794666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3608557380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3460049509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11:43:47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11:45:13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11:47:16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11:49:19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11:49:30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11:51:32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11:51:46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11:54:02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11:55:29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11:57:37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0:06:41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0:08:43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3855865632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11:44:55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11:46:07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11:52:51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11:55:01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1140906003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132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solidFill>
                            <a:srgbClr val="FF0000"/>
                          </a:solidFill>
                          <a:effectLst/>
                        </a:rPr>
                        <a:t>162</a:t>
                      </a:r>
                      <a:endParaRPr lang="en-US" sz="9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11(14)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solidFill>
                            <a:srgbClr val="FF0000"/>
                          </a:solidFill>
                          <a:effectLst/>
                        </a:rPr>
                        <a:t>137</a:t>
                      </a:r>
                      <a:endParaRPr lang="en-US" sz="9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solidFill>
                            <a:srgbClr val="FF0000"/>
                          </a:solidFill>
                          <a:effectLst/>
                        </a:rPr>
                        <a:t>147</a:t>
                      </a:r>
                      <a:endParaRPr lang="en-US" sz="9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solidFill>
                            <a:srgbClr val="FF0000"/>
                          </a:solidFill>
                          <a:effectLst/>
                        </a:rPr>
                        <a:t>4(8)</a:t>
                      </a:r>
                      <a:endParaRPr lang="en-US" sz="9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1960442164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3507971267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case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_4(0226)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1818039890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gender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m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999709531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glass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y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3695414014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3972563193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3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7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4257622531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11:43:28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11:45:02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11:47:15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11:49:20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11:50:12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11:53:41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11:56:05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11:57:26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effectLst/>
                        </a:rPr>
                        <a:t> 11:59:24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12:01:02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12:02:34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12:04:26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3238047037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11:44:20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11:45:58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11:56:59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effectLst/>
                        </a:rPr>
                        <a:t>11:58:30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130532559"/>
                  </a:ext>
                </a:extLst>
              </a:tr>
              <a:tr h="157201"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171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158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solidFill>
                            <a:srgbClr val="FF0000"/>
                          </a:solidFill>
                          <a:effectLst/>
                        </a:rPr>
                        <a:t>12(14)</a:t>
                      </a:r>
                      <a:endParaRPr lang="en-US" sz="9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166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900" u="none" strike="noStrike">
                          <a:solidFill>
                            <a:srgbClr val="FF0000"/>
                          </a:solidFill>
                          <a:effectLst/>
                        </a:rPr>
                        <a:t>140</a:t>
                      </a:r>
                      <a:endParaRPr lang="en-US" sz="9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6(8)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900" b="0" i="0" u="none" strike="noStrike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900" u="none" strike="noStrike" dirty="0">
                          <a:solidFill>
                            <a:srgbClr val="FF0000"/>
                          </a:solidFill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860" marR="7860" marT="7860" marB="0" anchor="b"/>
                </a:tc>
                <a:extLst>
                  <a:ext uri="{0D108BD9-81ED-4DB2-BD59-A6C34878D82A}">
                    <a16:rowId xmlns:a16="http://schemas.microsoft.com/office/drawing/2014/main" val="38948048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439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>
            <a:spLocks/>
          </p:cNvSpPr>
          <p:nvPr/>
        </p:nvSpPr>
        <p:spPr>
          <a:xfrm>
            <a:off x="101314" y="385857"/>
            <a:ext cx="7065394" cy="630143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r>
              <a:rPr lang="en-US" altLang="zh-CN" sz="2800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Case1</a:t>
            </a:r>
            <a:endParaRPr lang="zh-CN" altLang="en-US" sz="28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1314" y="1016000"/>
            <a:ext cx="148936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Gender/m</a:t>
            </a:r>
          </a:p>
          <a:p>
            <a:r>
              <a:rPr lang="en-US" altLang="zh-CN" dirty="0" smtClean="0"/>
              <a:t>Glass/y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2350543" y="440063"/>
            <a:ext cx="7263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Paper</a:t>
            </a:r>
            <a:endParaRPr lang="en-US" altLang="zh-CN" dirty="0"/>
          </a:p>
        </p:txBody>
      </p:sp>
      <p:sp>
        <p:nvSpPr>
          <p:cNvPr id="13" name="Rectangle 12"/>
          <p:cNvSpPr/>
          <p:nvPr/>
        </p:nvSpPr>
        <p:spPr>
          <a:xfrm>
            <a:off x="6937609" y="440063"/>
            <a:ext cx="5966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 smtClean="0"/>
              <a:t>Ipad</a:t>
            </a:r>
            <a:endParaRPr lang="en-US" altLang="zh-CN" dirty="0"/>
          </a:p>
        </p:txBody>
      </p:sp>
      <p:sp>
        <p:nvSpPr>
          <p:cNvPr id="4" name="Rectangle 3"/>
          <p:cNvSpPr/>
          <p:nvPr/>
        </p:nvSpPr>
        <p:spPr>
          <a:xfrm>
            <a:off x="2350543" y="880507"/>
            <a:ext cx="317304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Text Accuracy: 164.5 words/min</a:t>
            </a:r>
          </a:p>
          <a:p>
            <a:r>
              <a:rPr lang="en-US" altLang="zh-CN" dirty="0" smtClean="0"/>
              <a:t>Image Distinguish: 71.4%</a:t>
            </a:r>
            <a:endParaRPr lang="en-US" altLang="zh-CN" dirty="0"/>
          </a:p>
        </p:txBody>
      </p:sp>
      <p:sp>
        <p:nvSpPr>
          <p:cNvPr id="14" name="Rectangle 13"/>
          <p:cNvSpPr/>
          <p:nvPr/>
        </p:nvSpPr>
        <p:spPr>
          <a:xfrm>
            <a:off x="6937609" y="880507"/>
            <a:ext cx="317304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Text Accuracy: 132.5 words/min</a:t>
            </a:r>
          </a:p>
          <a:p>
            <a:r>
              <a:rPr lang="en-US" altLang="zh-CN" dirty="0" smtClean="0"/>
              <a:t>Image Distinguish: 75%</a:t>
            </a:r>
            <a:endParaRPr lang="en-US" altLang="zh-C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9854" y="1626296"/>
            <a:ext cx="3346084" cy="2327351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2497250" y="3752842"/>
            <a:ext cx="9390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chemeClr val="bg2">
                    <a:lumMod val="50000"/>
                  </a:schemeClr>
                </a:solidFill>
              </a:rPr>
              <a:t>rotation</a:t>
            </a:r>
            <a:endParaRPr lang="en-US" altLang="zh-CN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497250" y="6382863"/>
            <a:ext cx="21622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chemeClr val="bg2">
                    <a:lumMod val="50000"/>
                  </a:schemeClr>
                </a:solidFill>
              </a:rPr>
              <a:t>Tilt</a:t>
            </a:r>
            <a:r>
              <a:rPr lang="zh-CN" altLang="en-US" dirty="0" smtClean="0">
                <a:solidFill>
                  <a:schemeClr val="bg2">
                    <a:lumMod val="50000"/>
                  </a:schemeClr>
                </a:solidFill>
              </a:rPr>
              <a:t>（</a:t>
            </a:r>
            <a:r>
              <a:rPr lang="en-US" altLang="zh-CN" dirty="0" smtClean="0">
                <a:solidFill>
                  <a:schemeClr val="bg2">
                    <a:lumMod val="50000"/>
                  </a:schemeClr>
                </a:solidFill>
              </a:rPr>
              <a:t>46639 points</a:t>
            </a:r>
            <a:r>
              <a:rPr lang="zh-CN" altLang="en-US" dirty="0" smtClean="0">
                <a:solidFill>
                  <a:schemeClr val="bg2">
                    <a:lumMod val="50000"/>
                  </a:schemeClr>
                </a:solidFill>
              </a:rPr>
              <a:t>）</a:t>
            </a:r>
            <a:endParaRPr lang="en-US" altLang="zh-CN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7579" y="4018521"/>
            <a:ext cx="3518976" cy="2463283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0913" y="4018521"/>
            <a:ext cx="3509962" cy="2439126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3775" y="1628759"/>
            <a:ext cx="3323784" cy="2360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212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>
            <a:spLocks/>
          </p:cNvSpPr>
          <p:nvPr/>
        </p:nvSpPr>
        <p:spPr>
          <a:xfrm>
            <a:off x="101314" y="385857"/>
            <a:ext cx="7065394" cy="630143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r>
              <a:rPr lang="en-US" altLang="zh-CN" sz="2800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Case2</a:t>
            </a:r>
            <a:endParaRPr lang="zh-CN" altLang="en-US" sz="28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1314" y="1016000"/>
            <a:ext cx="148936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Gender/m</a:t>
            </a:r>
          </a:p>
          <a:p>
            <a:r>
              <a:rPr lang="en-US" altLang="zh-CN" dirty="0" smtClean="0"/>
              <a:t>Glass/y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2350543" y="440063"/>
            <a:ext cx="7263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Paper</a:t>
            </a:r>
            <a:endParaRPr lang="en-US" altLang="zh-CN" dirty="0"/>
          </a:p>
        </p:txBody>
      </p:sp>
      <p:sp>
        <p:nvSpPr>
          <p:cNvPr id="13" name="Rectangle 12"/>
          <p:cNvSpPr/>
          <p:nvPr/>
        </p:nvSpPr>
        <p:spPr>
          <a:xfrm>
            <a:off x="6937609" y="440063"/>
            <a:ext cx="5966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 smtClean="0"/>
              <a:t>Ipad</a:t>
            </a:r>
            <a:endParaRPr lang="en-US" altLang="zh-CN" dirty="0"/>
          </a:p>
        </p:txBody>
      </p:sp>
      <p:sp>
        <p:nvSpPr>
          <p:cNvPr id="4" name="Rectangle 3"/>
          <p:cNvSpPr/>
          <p:nvPr/>
        </p:nvSpPr>
        <p:spPr>
          <a:xfrm>
            <a:off x="2350543" y="880507"/>
            <a:ext cx="317304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Text Accuracy: 143.5 words/min</a:t>
            </a:r>
          </a:p>
          <a:p>
            <a:r>
              <a:rPr lang="en-US" altLang="zh-CN" dirty="0" smtClean="0"/>
              <a:t>Image Distinguish: 93%</a:t>
            </a:r>
            <a:endParaRPr lang="en-US" altLang="zh-CN" dirty="0"/>
          </a:p>
        </p:txBody>
      </p:sp>
      <p:sp>
        <p:nvSpPr>
          <p:cNvPr id="14" name="Rectangle 13"/>
          <p:cNvSpPr/>
          <p:nvPr/>
        </p:nvSpPr>
        <p:spPr>
          <a:xfrm>
            <a:off x="6937609" y="880507"/>
            <a:ext cx="299832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Text Accuracy: 134 words/min</a:t>
            </a:r>
          </a:p>
          <a:p>
            <a:r>
              <a:rPr lang="en-US" altLang="zh-CN" dirty="0" smtClean="0"/>
              <a:t>Image Distinguish: 75%</a:t>
            </a:r>
            <a:endParaRPr lang="en-US" altLang="zh-CN" dirty="0"/>
          </a:p>
        </p:txBody>
      </p:sp>
      <p:sp>
        <p:nvSpPr>
          <p:cNvPr id="12" name="Rectangle 11"/>
          <p:cNvSpPr/>
          <p:nvPr/>
        </p:nvSpPr>
        <p:spPr>
          <a:xfrm>
            <a:off x="2497250" y="3752842"/>
            <a:ext cx="9390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chemeClr val="bg2">
                    <a:lumMod val="50000"/>
                  </a:schemeClr>
                </a:solidFill>
              </a:rPr>
              <a:t>rotation</a:t>
            </a:r>
            <a:endParaRPr lang="en-US" altLang="zh-CN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497250" y="6434623"/>
            <a:ext cx="4443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chemeClr val="bg2">
                    <a:lumMod val="50000"/>
                  </a:schemeClr>
                </a:solidFill>
              </a:rPr>
              <a:t>tilt</a:t>
            </a:r>
            <a:endParaRPr lang="en-US" altLang="zh-CN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0750" y="1597950"/>
            <a:ext cx="3550051" cy="2499166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523590" y="3866396"/>
            <a:ext cx="9390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chemeClr val="bg2">
                    <a:lumMod val="50000"/>
                  </a:schemeClr>
                </a:solidFill>
              </a:rPr>
              <a:t>rotation</a:t>
            </a:r>
            <a:endParaRPr lang="en-US" altLang="zh-CN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53" b="2161"/>
          <a:stretch/>
        </p:blipFill>
        <p:spPr>
          <a:xfrm>
            <a:off x="2133333" y="4229100"/>
            <a:ext cx="3607468" cy="229552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9799" y="1607545"/>
            <a:ext cx="3550051" cy="2499166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4709" y="4097116"/>
            <a:ext cx="3635141" cy="2479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839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>
            <a:spLocks/>
          </p:cNvSpPr>
          <p:nvPr/>
        </p:nvSpPr>
        <p:spPr>
          <a:xfrm>
            <a:off x="101314" y="385857"/>
            <a:ext cx="7065394" cy="630143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r>
              <a:rPr lang="en-US" altLang="zh-CN" sz="2800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Case3</a:t>
            </a:r>
            <a:endParaRPr lang="zh-CN" altLang="en-US" sz="28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1314" y="1016000"/>
            <a:ext cx="14893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Gender/f</a:t>
            </a:r>
          </a:p>
          <a:p>
            <a:r>
              <a:rPr lang="en-US" altLang="zh-CN" dirty="0" smtClean="0"/>
              <a:t>Glass/n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2350543" y="440063"/>
            <a:ext cx="7263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Paper</a:t>
            </a:r>
            <a:endParaRPr lang="en-US" altLang="zh-CN" dirty="0"/>
          </a:p>
        </p:txBody>
      </p:sp>
      <p:sp>
        <p:nvSpPr>
          <p:cNvPr id="13" name="Rectangle 12"/>
          <p:cNvSpPr/>
          <p:nvPr/>
        </p:nvSpPr>
        <p:spPr>
          <a:xfrm>
            <a:off x="6937609" y="440063"/>
            <a:ext cx="5966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 smtClean="0"/>
              <a:t>Ipad</a:t>
            </a:r>
            <a:endParaRPr lang="en-US" altLang="zh-CN" dirty="0"/>
          </a:p>
        </p:txBody>
      </p:sp>
      <p:sp>
        <p:nvSpPr>
          <p:cNvPr id="4" name="Rectangle 3"/>
          <p:cNvSpPr/>
          <p:nvPr/>
        </p:nvSpPr>
        <p:spPr>
          <a:xfrm>
            <a:off x="2350543" y="880507"/>
            <a:ext cx="299832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Text Accuracy: 145 words/min</a:t>
            </a:r>
          </a:p>
          <a:p>
            <a:r>
              <a:rPr lang="en-US" altLang="zh-CN" dirty="0" smtClean="0"/>
              <a:t>Image Distinguish: 78%</a:t>
            </a:r>
            <a:endParaRPr lang="en-US" altLang="zh-CN" dirty="0"/>
          </a:p>
        </p:txBody>
      </p:sp>
      <p:sp>
        <p:nvSpPr>
          <p:cNvPr id="14" name="Rectangle 13"/>
          <p:cNvSpPr/>
          <p:nvPr/>
        </p:nvSpPr>
        <p:spPr>
          <a:xfrm>
            <a:off x="6937609" y="880507"/>
            <a:ext cx="299832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Text Accuracy: 142 words/min</a:t>
            </a:r>
          </a:p>
          <a:p>
            <a:r>
              <a:rPr lang="en-US" altLang="zh-CN" dirty="0" smtClean="0"/>
              <a:t>Image Distinguish: 50%</a:t>
            </a:r>
            <a:endParaRPr lang="en-US" altLang="zh-CN" dirty="0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0750" y="1597950"/>
            <a:ext cx="3550051" cy="249916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9415" y="4152314"/>
            <a:ext cx="3664966" cy="2466975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497250" y="6434623"/>
            <a:ext cx="4443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chemeClr val="bg2">
                    <a:lumMod val="50000"/>
                  </a:schemeClr>
                </a:solidFill>
              </a:rPr>
              <a:t>tilt</a:t>
            </a:r>
            <a:endParaRPr lang="en-US" altLang="zh-CN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523590" y="3866396"/>
            <a:ext cx="9390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chemeClr val="bg2">
                    <a:lumMod val="50000"/>
                  </a:schemeClr>
                </a:solidFill>
              </a:rPr>
              <a:t>rotation</a:t>
            </a:r>
            <a:endParaRPr lang="en-US" altLang="zh-CN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3672" y="4109291"/>
            <a:ext cx="3610003" cy="2521694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3624" y="1582526"/>
            <a:ext cx="3550051" cy="2499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799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>
            <a:spLocks/>
          </p:cNvSpPr>
          <p:nvPr/>
        </p:nvSpPr>
        <p:spPr>
          <a:xfrm>
            <a:off x="101314" y="385857"/>
            <a:ext cx="7065394" cy="630143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r>
              <a:rPr lang="en-US" altLang="zh-CN" sz="2800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Case4</a:t>
            </a:r>
            <a:endParaRPr lang="zh-CN" altLang="en-US" sz="28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1314" y="1016000"/>
            <a:ext cx="14893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Gender/m</a:t>
            </a:r>
          </a:p>
          <a:p>
            <a:r>
              <a:rPr lang="en-US" altLang="zh-CN" dirty="0" smtClean="0"/>
              <a:t>Glass/y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2350543" y="440063"/>
            <a:ext cx="7263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Paper</a:t>
            </a:r>
            <a:endParaRPr lang="en-US" altLang="zh-CN" dirty="0"/>
          </a:p>
        </p:txBody>
      </p:sp>
      <p:sp>
        <p:nvSpPr>
          <p:cNvPr id="13" name="Rectangle 12"/>
          <p:cNvSpPr/>
          <p:nvPr/>
        </p:nvSpPr>
        <p:spPr>
          <a:xfrm>
            <a:off x="6937609" y="440063"/>
            <a:ext cx="5966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 smtClean="0"/>
              <a:t>Ipad</a:t>
            </a:r>
            <a:endParaRPr lang="en-US" altLang="zh-CN" dirty="0"/>
          </a:p>
        </p:txBody>
      </p:sp>
      <p:sp>
        <p:nvSpPr>
          <p:cNvPr id="4" name="Rectangle 3"/>
          <p:cNvSpPr/>
          <p:nvPr/>
        </p:nvSpPr>
        <p:spPr>
          <a:xfrm>
            <a:off x="2350543" y="880507"/>
            <a:ext cx="317304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Text Accuracy: 164.5 words/min</a:t>
            </a:r>
          </a:p>
          <a:p>
            <a:r>
              <a:rPr lang="en-US" altLang="zh-CN" dirty="0" smtClean="0"/>
              <a:t>Image Distinguish: 85%</a:t>
            </a:r>
            <a:endParaRPr lang="en-US" altLang="zh-CN" dirty="0"/>
          </a:p>
        </p:txBody>
      </p:sp>
      <p:sp>
        <p:nvSpPr>
          <p:cNvPr id="14" name="Rectangle 13"/>
          <p:cNvSpPr/>
          <p:nvPr/>
        </p:nvSpPr>
        <p:spPr>
          <a:xfrm>
            <a:off x="6937609" y="880507"/>
            <a:ext cx="299832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Text Accuracy: 153 words/min</a:t>
            </a:r>
          </a:p>
          <a:p>
            <a:r>
              <a:rPr lang="en-US" altLang="zh-CN" dirty="0" smtClean="0"/>
              <a:t>Image Distinguish: 75%</a:t>
            </a:r>
            <a:endParaRPr lang="en-US" altLang="zh-CN" dirty="0"/>
          </a:p>
        </p:txBody>
      </p:sp>
      <p:sp>
        <p:nvSpPr>
          <p:cNvPr id="8" name="Rectangle 7"/>
          <p:cNvSpPr/>
          <p:nvPr/>
        </p:nvSpPr>
        <p:spPr>
          <a:xfrm>
            <a:off x="2497250" y="6434623"/>
            <a:ext cx="4443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chemeClr val="bg2">
                    <a:lumMod val="50000"/>
                  </a:schemeClr>
                </a:solidFill>
              </a:rPr>
              <a:t>tilt</a:t>
            </a:r>
            <a:endParaRPr lang="en-US" altLang="zh-CN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523590" y="3866396"/>
            <a:ext cx="9390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chemeClr val="bg2">
                    <a:lumMod val="50000"/>
                  </a:schemeClr>
                </a:solidFill>
              </a:rPr>
              <a:t>rotation</a:t>
            </a:r>
            <a:endParaRPr lang="en-US" altLang="zh-CN" dirty="0">
              <a:solidFill>
                <a:schemeClr val="bg2">
                  <a:lumMod val="50000"/>
                </a:schemeClr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1131" y="1510650"/>
            <a:ext cx="3392066" cy="236006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8865" y="1510651"/>
            <a:ext cx="3504243" cy="242469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9333" y="4174592"/>
            <a:ext cx="3435662" cy="232116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9081" y="4165294"/>
            <a:ext cx="3434129" cy="2376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928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>
            <a:spLocks/>
          </p:cNvSpPr>
          <p:nvPr/>
        </p:nvSpPr>
        <p:spPr>
          <a:xfrm>
            <a:off x="101314" y="385857"/>
            <a:ext cx="7065394" cy="630143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r>
              <a:rPr lang="en-US" altLang="zh-CN" sz="2800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Case Comparison</a:t>
            </a:r>
            <a:endParaRPr lang="zh-CN" altLang="en-US" sz="28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72674867"/>
              </p:ext>
            </p:extLst>
          </p:nvPr>
        </p:nvGraphicFramePr>
        <p:xfrm>
          <a:off x="771525" y="20574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51215320"/>
              </p:ext>
            </p:extLst>
          </p:nvPr>
        </p:nvGraphicFramePr>
        <p:xfrm>
          <a:off x="6348412" y="205740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Rectangle 8"/>
          <p:cNvSpPr/>
          <p:nvPr/>
        </p:nvSpPr>
        <p:spPr>
          <a:xfrm>
            <a:off x="969418" y="5119132"/>
            <a:ext cx="4818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Text </a:t>
            </a:r>
            <a:r>
              <a:rPr lang="en-US" altLang="zh-CN" dirty="0" err="1" smtClean="0"/>
              <a:t>Accuracy&amp;Image</a:t>
            </a:r>
            <a:r>
              <a:rPr lang="en-US" altLang="zh-CN" dirty="0" smtClean="0"/>
              <a:t> Distinguish between cases. 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438078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/>
          </p:cNvSpPr>
          <p:nvPr/>
        </p:nvSpPr>
        <p:spPr>
          <a:xfrm>
            <a:off x="101314" y="385857"/>
            <a:ext cx="7065394" cy="630143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r>
              <a:rPr lang="en-US" altLang="zh-CN" sz="2800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Facial detection failure</a:t>
            </a:r>
            <a:endParaRPr lang="zh-CN" altLang="en-US" sz="28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688" y="1213890"/>
            <a:ext cx="2947988" cy="200556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2825" y="1211569"/>
            <a:ext cx="2943345" cy="201020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22"/>
          <a:stretch/>
        </p:blipFill>
        <p:spPr>
          <a:xfrm>
            <a:off x="547688" y="3516618"/>
            <a:ext cx="2986087" cy="200788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57"/>
          <a:stretch/>
        </p:blipFill>
        <p:spPr>
          <a:xfrm>
            <a:off x="3702825" y="3541375"/>
            <a:ext cx="2983725" cy="2007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109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/>
          </p:cNvSpPr>
          <p:nvPr/>
        </p:nvSpPr>
        <p:spPr>
          <a:xfrm>
            <a:off x="101314" y="385857"/>
            <a:ext cx="7065394" cy="630143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r>
              <a:rPr lang="en-US" altLang="zh-CN" sz="2800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Feedback</a:t>
            </a:r>
            <a:endParaRPr lang="zh-CN" altLang="en-US" sz="28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79895" y="1922340"/>
            <a:ext cx="618762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zh-CN" dirty="0" smtClean="0"/>
              <a:t>Text test is a little bit boring. </a:t>
            </a:r>
          </a:p>
          <a:p>
            <a:pPr marL="342900" indent="-342900">
              <a:buAutoNum type="arabicPeriod"/>
            </a:pPr>
            <a:r>
              <a:rPr lang="en-US" altLang="zh-CN" dirty="0" smtClean="0"/>
              <a:t>Image test is interesting. </a:t>
            </a:r>
          </a:p>
          <a:p>
            <a:pPr marL="342900" indent="-342900">
              <a:buAutoNum type="arabicPeriod"/>
            </a:pPr>
            <a:r>
              <a:rPr lang="en-US" altLang="zh-CN" dirty="0" smtClean="0"/>
              <a:t>When glare is severe, feels frustrated/painful. 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79895" y="3589215"/>
            <a:ext cx="934993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Problem: </a:t>
            </a:r>
            <a:r>
              <a:rPr lang="en-US" altLang="zh-CN" dirty="0" err="1" smtClean="0"/>
              <a:t>Rotation&amp;tilting</a:t>
            </a:r>
            <a:r>
              <a:rPr lang="en-US" altLang="zh-CN" dirty="0" smtClean="0"/>
              <a:t> tracking crushed in </a:t>
            </a:r>
            <a:r>
              <a:rPr lang="en-US" altLang="zh-CN" dirty="0" err="1" smtClean="0"/>
              <a:t>Spyder</a:t>
            </a:r>
            <a:r>
              <a:rPr lang="en-US" altLang="zh-CN" dirty="0" smtClean="0"/>
              <a:t> console. Solution: Use sublime. </a:t>
            </a:r>
          </a:p>
          <a:p>
            <a:r>
              <a:rPr lang="en-US" altLang="zh-CN" dirty="0" smtClean="0"/>
              <a:t>                 Facial detection lost data. </a:t>
            </a:r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45543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01314" y="1016000"/>
            <a:ext cx="14893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Gender/m</a:t>
            </a:r>
          </a:p>
          <a:p>
            <a:r>
              <a:rPr lang="en-US" altLang="zh-CN" dirty="0" smtClean="0"/>
              <a:t>Glass/y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sp>
        <p:nvSpPr>
          <p:cNvPr id="9" name="标题 1"/>
          <p:cNvSpPr txBox="1">
            <a:spLocks/>
          </p:cNvSpPr>
          <p:nvPr/>
        </p:nvSpPr>
        <p:spPr>
          <a:xfrm>
            <a:off x="101314" y="385857"/>
            <a:ext cx="7065394" cy="630143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r>
              <a:rPr lang="en-US" altLang="zh-CN" sz="2800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Case5</a:t>
            </a:r>
            <a:endParaRPr lang="zh-CN" altLang="en-US" sz="28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23527" y="2123996"/>
            <a:ext cx="7263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Paper</a:t>
            </a:r>
            <a:endParaRPr lang="en-US" altLang="zh-CN" dirty="0"/>
          </a:p>
        </p:txBody>
      </p:sp>
      <p:sp>
        <p:nvSpPr>
          <p:cNvPr id="5" name="Rectangle 4"/>
          <p:cNvSpPr/>
          <p:nvPr/>
        </p:nvSpPr>
        <p:spPr>
          <a:xfrm>
            <a:off x="1122145" y="3358827"/>
            <a:ext cx="5966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 smtClean="0"/>
              <a:t>Ipad</a:t>
            </a:r>
            <a:endParaRPr lang="en-US" altLang="zh-CN" dirty="0"/>
          </a:p>
        </p:txBody>
      </p:sp>
      <p:sp>
        <p:nvSpPr>
          <p:cNvPr id="6" name="Rectangle 5"/>
          <p:cNvSpPr/>
          <p:nvPr/>
        </p:nvSpPr>
        <p:spPr>
          <a:xfrm>
            <a:off x="1123527" y="2564440"/>
            <a:ext cx="317304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Text Accuracy: 151.5 words/min</a:t>
            </a:r>
          </a:p>
          <a:p>
            <a:r>
              <a:rPr lang="en-US" altLang="zh-CN" dirty="0" smtClean="0"/>
              <a:t>Image Distinguish: 100%</a:t>
            </a:r>
            <a:endParaRPr lang="en-US" altLang="zh-CN" dirty="0"/>
          </a:p>
        </p:txBody>
      </p:sp>
      <p:sp>
        <p:nvSpPr>
          <p:cNvPr id="7" name="Rectangle 6"/>
          <p:cNvSpPr/>
          <p:nvPr/>
        </p:nvSpPr>
        <p:spPr>
          <a:xfrm>
            <a:off x="1122145" y="3799271"/>
            <a:ext cx="299832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Text Accuracy: 143 words/min</a:t>
            </a:r>
          </a:p>
          <a:p>
            <a:r>
              <a:rPr lang="en-US" altLang="zh-CN" dirty="0" smtClean="0"/>
              <a:t>Image Distinguish: 100%</a:t>
            </a:r>
            <a:endParaRPr lang="en-US" altLang="zh-CN" dirty="0"/>
          </a:p>
        </p:txBody>
      </p:sp>
      <p:graphicFrame>
        <p:nvGraphicFramePr>
          <p:cNvPr id="12" name="Chart 1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69352006"/>
              </p:ext>
            </p:extLst>
          </p:nvPr>
        </p:nvGraphicFramePr>
        <p:xfrm>
          <a:off x="4991156" y="714809"/>
          <a:ext cx="4829174" cy="26459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Chart 1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1434185"/>
              </p:ext>
            </p:extLst>
          </p:nvPr>
        </p:nvGraphicFramePr>
        <p:xfrm>
          <a:off x="4991156" y="3683884"/>
          <a:ext cx="4829174" cy="2647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208962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01314" y="1016000"/>
            <a:ext cx="14893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Gender/m</a:t>
            </a:r>
          </a:p>
          <a:p>
            <a:r>
              <a:rPr lang="en-US" altLang="zh-CN" dirty="0" smtClean="0"/>
              <a:t>Glass/y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sp>
        <p:nvSpPr>
          <p:cNvPr id="9" name="标题 1"/>
          <p:cNvSpPr txBox="1">
            <a:spLocks/>
          </p:cNvSpPr>
          <p:nvPr/>
        </p:nvSpPr>
        <p:spPr>
          <a:xfrm>
            <a:off x="101314" y="385857"/>
            <a:ext cx="7065394" cy="630143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r>
              <a:rPr lang="en-US" altLang="zh-CN" sz="2800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Case5</a:t>
            </a:r>
            <a:endParaRPr lang="zh-CN" altLang="en-US" sz="28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23527" y="2123996"/>
            <a:ext cx="7263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Paper</a:t>
            </a:r>
            <a:endParaRPr lang="en-US" altLang="zh-CN" dirty="0"/>
          </a:p>
        </p:txBody>
      </p:sp>
      <p:sp>
        <p:nvSpPr>
          <p:cNvPr id="5" name="Rectangle 4"/>
          <p:cNvSpPr/>
          <p:nvPr/>
        </p:nvSpPr>
        <p:spPr>
          <a:xfrm>
            <a:off x="1122145" y="3358827"/>
            <a:ext cx="5966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 smtClean="0"/>
              <a:t>Ipad</a:t>
            </a:r>
            <a:endParaRPr lang="en-US" altLang="zh-CN" dirty="0"/>
          </a:p>
        </p:txBody>
      </p:sp>
      <p:sp>
        <p:nvSpPr>
          <p:cNvPr id="6" name="Rectangle 5"/>
          <p:cNvSpPr/>
          <p:nvPr/>
        </p:nvSpPr>
        <p:spPr>
          <a:xfrm>
            <a:off x="1123527" y="2564440"/>
            <a:ext cx="317304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Text Accuracy: 151.5 words/min</a:t>
            </a:r>
          </a:p>
          <a:p>
            <a:r>
              <a:rPr lang="en-US" altLang="zh-CN" dirty="0" smtClean="0"/>
              <a:t>Image Distinguish: 100%</a:t>
            </a:r>
            <a:endParaRPr lang="en-US" altLang="zh-CN" dirty="0"/>
          </a:p>
        </p:txBody>
      </p:sp>
      <p:sp>
        <p:nvSpPr>
          <p:cNvPr id="7" name="Rectangle 6"/>
          <p:cNvSpPr/>
          <p:nvPr/>
        </p:nvSpPr>
        <p:spPr>
          <a:xfrm>
            <a:off x="1122145" y="3799271"/>
            <a:ext cx="299832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Text Accuracy: 143 words/min</a:t>
            </a:r>
          </a:p>
          <a:p>
            <a:r>
              <a:rPr lang="en-US" altLang="zh-CN" dirty="0" smtClean="0"/>
              <a:t>Image Distinguish: 100%</a:t>
            </a:r>
            <a:endParaRPr lang="en-US" altLang="zh-CN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53" b="2161"/>
          <a:stretch/>
        </p:blipFill>
        <p:spPr>
          <a:xfrm>
            <a:off x="5744040" y="798146"/>
            <a:ext cx="3607468" cy="22955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6367" y="3358827"/>
            <a:ext cx="3635141" cy="2479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321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01314" y="1016000"/>
            <a:ext cx="14893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Gender/m</a:t>
            </a:r>
          </a:p>
          <a:p>
            <a:r>
              <a:rPr lang="en-US" altLang="zh-CN" dirty="0" smtClean="0"/>
              <a:t>Glass/y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sp>
        <p:nvSpPr>
          <p:cNvPr id="9" name="标题 1"/>
          <p:cNvSpPr txBox="1">
            <a:spLocks/>
          </p:cNvSpPr>
          <p:nvPr/>
        </p:nvSpPr>
        <p:spPr>
          <a:xfrm>
            <a:off x="101314" y="385857"/>
            <a:ext cx="7065394" cy="630143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r>
              <a:rPr lang="en-US" altLang="zh-CN" sz="2800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Case5</a:t>
            </a:r>
            <a:endParaRPr lang="zh-CN" altLang="en-US" sz="28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9648" y="2334114"/>
            <a:ext cx="4906475" cy="322252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01314" y="1754664"/>
            <a:ext cx="6096000" cy="48320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/>
              <a:t>2017-04-28 11:56:17 259,46 61.1940298507</a:t>
            </a:r>
          </a:p>
          <a:p>
            <a:r>
              <a:rPr lang="en-US" sz="1400" dirty="0"/>
              <a:t>2017-04-28 11:56:18 268,76 488.095238095</a:t>
            </a:r>
          </a:p>
          <a:p>
            <a:r>
              <a:rPr lang="en-US" sz="1400" dirty="0"/>
              <a:t>2017-04-28 11:56:18 269,77 512.5</a:t>
            </a:r>
          </a:p>
          <a:p>
            <a:r>
              <a:rPr lang="en-US" sz="1400" dirty="0"/>
              <a:t>2017-04-28 11:56:18 271,77 512.5</a:t>
            </a:r>
          </a:p>
          <a:p>
            <a:r>
              <a:rPr lang="en-US" sz="1400" dirty="0"/>
              <a:t>2017-04-28 11:56:18 165,268 500.0</a:t>
            </a:r>
          </a:p>
          <a:p>
            <a:r>
              <a:rPr lang="en-US" sz="1400" dirty="0"/>
              <a:t>2017-04-28 11:56:18 204,393 301.470588235</a:t>
            </a:r>
          </a:p>
          <a:p>
            <a:r>
              <a:rPr lang="en-US" sz="1400" dirty="0"/>
              <a:t>2017-04-28 11:56:18 290,180 488.095238095</a:t>
            </a:r>
          </a:p>
          <a:p>
            <a:r>
              <a:rPr lang="en-US" sz="1400" dirty="0"/>
              <a:t>2017-04-28 11:56:18 202,386 250.0</a:t>
            </a:r>
          </a:p>
          <a:p>
            <a:r>
              <a:rPr lang="en-US" sz="1400" dirty="0"/>
              <a:t>2017-04-28 11:56:19 270,78 525.641025641</a:t>
            </a:r>
          </a:p>
          <a:p>
            <a:r>
              <a:rPr lang="en-US" sz="1400" dirty="0"/>
              <a:t>2017-04-28 11:56:19 272,77 525.641025641</a:t>
            </a:r>
          </a:p>
          <a:p>
            <a:r>
              <a:rPr lang="en-US" sz="1400" dirty="0"/>
              <a:t>2017-04-28 11:56:19 331,348 225.274725275</a:t>
            </a:r>
          </a:p>
          <a:p>
            <a:r>
              <a:rPr lang="en-US" sz="1400" dirty="0"/>
              <a:t>2017-04-28 11:56:20 30,118 427.083333333</a:t>
            </a:r>
          </a:p>
          <a:p>
            <a:r>
              <a:rPr lang="en-US" sz="1400" dirty="0"/>
              <a:t>2017-04-28 11:56:20 311,194 539.473684211</a:t>
            </a:r>
          </a:p>
          <a:p>
            <a:r>
              <a:rPr lang="en-US" sz="1400" dirty="0"/>
              <a:t>2017-04-28 11:56:20 318,199 585.714285714</a:t>
            </a:r>
          </a:p>
          <a:p>
            <a:r>
              <a:rPr lang="en-US" sz="1400" dirty="0"/>
              <a:t>2017-04-28 11:56:22 271,76 512.5</a:t>
            </a:r>
          </a:p>
          <a:p>
            <a:r>
              <a:rPr lang="en-US" sz="1400" dirty="0"/>
              <a:t>2017-04-28 11:56:23 311,201 640.625</a:t>
            </a:r>
          </a:p>
          <a:p>
            <a:r>
              <a:rPr lang="en-US" sz="1400" dirty="0"/>
              <a:t>2017-04-28 11:56:23 310,199 512.5</a:t>
            </a:r>
          </a:p>
          <a:p>
            <a:r>
              <a:rPr lang="en-US" sz="1400" dirty="0"/>
              <a:t>2017-04-28 11:56:23 311,198 512.5</a:t>
            </a:r>
          </a:p>
          <a:p>
            <a:r>
              <a:rPr lang="en-US" sz="1400" dirty="0"/>
              <a:t>2017-04-28 11:56:23 311,198 512.5</a:t>
            </a:r>
          </a:p>
          <a:p>
            <a:r>
              <a:rPr lang="en-US" sz="1400" dirty="0"/>
              <a:t>2017-04-28 12:13:51 125,5 0.0</a:t>
            </a:r>
          </a:p>
          <a:p>
            <a:r>
              <a:rPr lang="en-US" sz="1400" dirty="0"/>
              <a:t>2017-04-28 12:13:51 148,134 0.0</a:t>
            </a:r>
          </a:p>
          <a:p>
            <a:r>
              <a:rPr lang="en-US" sz="1400" dirty="0"/>
              <a:t>2017-04-28 12:13:51 130,6 0.0</a:t>
            </a:r>
          </a:p>
        </p:txBody>
      </p:sp>
    </p:spTree>
    <p:extLst>
      <p:ext uri="{BB962C8B-B14F-4D97-AF65-F5344CB8AC3E}">
        <p14:creationId xmlns:p14="http://schemas.microsoft.com/office/powerpoint/2010/main" val="1071011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>
            <a:spLocks/>
          </p:cNvSpPr>
          <p:nvPr/>
        </p:nvSpPr>
        <p:spPr>
          <a:xfrm>
            <a:off x="101314" y="385857"/>
            <a:ext cx="7065394" cy="630143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r>
              <a:rPr lang="en-US" altLang="zh-CN" sz="2800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Reorganize the data structure flow</a:t>
            </a:r>
            <a:endParaRPr lang="zh-CN" altLang="en-US" sz="28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49384" y="3928439"/>
            <a:ext cx="2172677" cy="646331"/>
          </a:xfrm>
          <a:prstGeom prst="rect">
            <a:avLst/>
          </a:prstGeom>
          <a:solidFill>
            <a:schemeClr val="accent2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Control data collected from GUI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449383" y="2060857"/>
            <a:ext cx="2172677" cy="369332"/>
          </a:xfrm>
          <a:prstGeom prst="rect">
            <a:avLst/>
          </a:prstGeom>
          <a:solidFill>
            <a:schemeClr val="accent2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Basic information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124476" y="1999924"/>
            <a:ext cx="1238741" cy="923330"/>
          </a:xfrm>
          <a:prstGeom prst="rect">
            <a:avLst/>
          </a:prstGeom>
          <a:solidFill>
            <a:schemeClr val="accent2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Paper test </a:t>
            </a:r>
            <a:r>
              <a:rPr lang="en-US" dirty="0" err="1" smtClean="0"/>
              <a:t>test</a:t>
            </a:r>
            <a:r>
              <a:rPr lang="en-US" dirty="0" smtClean="0"/>
              <a:t> time for each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124475" y="3844379"/>
            <a:ext cx="1238742" cy="923330"/>
          </a:xfrm>
          <a:prstGeom prst="rect">
            <a:avLst/>
          </a:prstGeom>
          <a:solidFill>
            <a:schemeClr val="accent2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 smtClean="0"/>
              <a:t>Ipad</a:t>
            </a:r>
            <a:r>
              <a:rPr lang="en-US" dirty="0" smtClean="0"/>
              <a:t> test time for each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996261" y="1747184"/>
            <a:ext cx="1238741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text1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6555427" y="1747184"/>
            <a:ext cx="1238741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text2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4996260" y="2272751"/>
            <a:ext cx="1238741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image3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6555427" y="2271497"/>
            <a:ext cx="1238741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image4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4996257" y="2800431"/>
            <a:ext cx="1238741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image5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6555426" y="2800431"/>
            <a:ext cx="1238741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image6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4996256" y="3595811"/>
            <a:ext cx="1238741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text1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6555429" y="3592905"/>
            <a:ext cx="1238741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text2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4996255" y="4121378"/>
            <a:ext cx="1238741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image3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6555428" y="4121378"/>
            <a:ext cx="1238741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image4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4996255" y="4646945"/>
            <a:ext cx="1238741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image5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6555427" y="4646152"/>
            <a:ext cx="1238741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image6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4836039" y="1149556"/>
            <a:ext cx="1559171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Input accuracy 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8022770" y="5297088"/>
            <a:ext cx="1559171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Motion data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7794167" y="5971090"/>
            <a:ext cx="2016379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Average by minute</a:t>
            </a:r>
            <a:endParaRPr 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3124475" y="5967099"/>
            <a:ext cx="1238742" cy="369221"/>
          </a:xfrm>
          <a:prstGeom prst="rect">
            <a:avLst/>
          </a:prstGeom>
          <a:solidFill>
            <a:schemeClr val="accent2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Total time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8114593" y="1747184"/>
            <a:ext cx="1559171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Average score</a:t>
            </a:r>
            <a:endParaRPr 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8114593" y="2534539"/>
            <a:ext cx="1559171" cy="369332"/>
          </a:xfrm>
          <a:prstGeom prst="rect">
            <a:avLst/>
          </a:prstGeom>
          <a:solidFill>
            <a:srgbClr val="FFFF00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Average score</a:t>
            </a:r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8114593" y="3592905"/>
            <a:ext cx="1559171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Average score</a:t>
            </a:r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8114593" y="4380260"/>
            <a:ext cx="1559171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Average score</a:t>
            </a:r>
            <a:endParaRPr lang="en-US" dirty="0"/>
          </a:p>
        </p:txBody>
      </p:sp>
      <p:sp>
        <p:nvSpPr>
          <p:cNvPr id="33" name="TextBox 32"/>
          <p:cNvSpPr txBox="1"/>
          <p:nvPr/>
        </p:nvSpPr>
        <p:spPr>
          <a:xfrm>
            <a:off x="5224858" y="5298773"/>
            <a:ext cx="1559171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Facial data</a:t>
            </a:r>
            <a:endParaRPr lang="en-US" dirty="0"/>
          </a:p>
        </p:txBody>
      </p:sp>
      <p:sp>
        <p:nvSpPr>
          <p:cNvPr id="36" name="TextBox 35"/>
          <p:cNvSpPr txBox="1"/>
          <p:nvPr/>
        </p:nvSpPr>
        <p:spPr>
          <a:xfrm>
            <a:off x="4996253" y="5963805"/>
            <a:ext cx="2016379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Average by minute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10301748" y="3063722"/>
            <a:ext cx="1430594" cy="64633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Visualization Model</a:t>
            </a:r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10507219" y="5825305"/>
            <a:ext cx="1046141" cy="64633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Solar data</a:t>
            </a:r>
            <a:endParaRPr lang="en-US" dirty="0"/>
          </a:p>
        </p:txBody>
      </p:sp>
      <p:cxnSp>
        <p:nvCxnSpPr>
          <p:cNvPr id="39" name="Elbow Connector 38"/>
          <p:cNvCxnSpPr>
            <a:stCxn id="6" idx="1"/>
            <a:endCxn id="26" idx="1"/>
          </p:cNvCxnSpPr>
          <p:nvPr/>
        </p:nvCxnSpPr>
        <p:spPr>
          <a:xfrm rot="10800000" flipV="1">
            <a:off x="3124476" y="2461588"/>
            <a:ext cx="1" cy="3690121"/>
          </a:xfrm>
          <a:prstGeom prst="bentConnector3">
            <a:avLst>
              <a:gd name="adj1" fmla="val 228601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2" idx="0"/>
          </p:cNvCxnSpPr>
          <p:nvPr/>
        </p:nvCxnSpPr>
        <p:spPr>
          <a:xfrm flipV="1">
            <a:off x="1535723" y="2456163"/>
            <a:ext cx="0" cy="14722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2" idx="3"/>
          </p:cNvCxnSpPr>
          <p:nvPr/>
        </p:nvCxnSpPr>
        <p:spPr>
          <a:xfrm flipV="1">
            <a:off x="2622061" y="4251604"/>
            <a:ext cx="26124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/>
          <p:cNvCxnSpPr>
            <a:stCxn id="15" idx="1"/>
            <a:endCxn id="19" idx="1"/>
          </p:cNvCxnSpPr>
          <p:nvPr/>
        </p:nvCxnSpPr>
        <p:spPr>
          <a:xfrm rot="10800000" flipV="1">
            <a:off x="4996256" y="3780477"/>
            <a:ext cx="1" cy="1051134"/>
          </a:xfrm>
          <a:prstGeom prst="bentConnector3">
            <a:avLst>
              <a:gd name="adj1" fmla="val 228601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Elbow Connector 46"/>
          <p:cNvCxnSpPr>
            <a:stCxn id="9" idx="1"/>
            <a:endCxn id="13" idx="1"/>
          </p:cNvCxnSpPr>
          <p:nvPr/>
        </p:nvCxnSpPr>
        <p:spPr>
          <a:xfrm rot="10800000" flipV="1">
            <a:off x="4996257" y="1931849"/>
            <a:ext cx="4" cy="1053247"/>
          </a:xfrm>
          <a:prstGeom prst="bentConnector3">
            <a:avLst>
              <a:gd name="adj1" fmla="val 57151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stCxn id="21" idx="2"/>
            <a:endCxn id="9" idx="0"/>
          </p:cNvCxnSpPr>
          <p:nvPr/>
        </p:nvCxnSpPr>
        <p:spPr>
          <a:xfrm>
            <a:off x="5615625" y="1518888"/>
            <a:ext cx="7" cy="2282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stCxn id="6" idx="3"/>
          </p:cNvCxnSpPr>
          <p:nvPr/>
        </p:nvCxnSpPr>
        <p:spPr>
          <a:xfrm>
            <a:off x="4363217" y="2461589"/>
            <a:ext cx="3966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stCxn id="7" idx="3"/>
          </p:cNvCxnSpPr>
          <p:nvPr/>
        </p:nvCxnSpPr>
        <p:spPr>
          <a:xfrm>
            <a:off x="4363217" y="4306044"/>
            <a:ext cx="39663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>
            <a:stCxn id="10" idx="3"/>
            <a:endCxn id="28" idx="1"/>
          </p:cNvCxnSpPr>
          <p:nvPr/>
        </p:nvCxnSpPr>
        <p:spPr>
          <a:xfrm>
            <a:off x="7794168" y="1931850"/>
            <a:ext cx="32042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>
            <a:stCxn id="16" idx="3"/>
            <a:endCxn id="30" idx="1"/>
          </p:cNvCxnSpPr>
          <p:nvPr/>
        </p:nvCxnSpPr>
        <p:spPr>
          <a:xfrm>
            <a:off x="7794170" y="3777571"/>
            <a:ext cx="32042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Elbow Connector 59"/>
          <p:cNvCxnSpPr>
            <a:stCxn id="18" idx="3"/>
            <a:endCxn id="20" idx="3"/>
          </p:cNvCxnSpPr>
          <p:nvPr/>
        </p:nvCxnSpPr>
        <p:spPr>
          <a:xfrm flipH="1">
            <a:off x="7794168" y="4306044"/>
            <a:ext cx="1" cy="524774"/>
          </a:xfrm>
          <a:prstGeom prst="bentConnector3">
            <a:avLst>
              <a:gd name="adj1" fmla="val -228600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Elbow Connector 61"/>
          <p:cNvCxnSpPr>
            <a:stCxn id="12" idx="3"/>
            <a:endCxn id="14" idx="3"/>
          </p:cNvCxnSpPr>
          <p:nvPr/>
        </p:nvCxnSpPr>
        <p:spPr>
          <a:xfrm flipH="1">
            <a:off x="7794167" y="2456163"/>
            <a:ext cx="1" cy="528934"/>
          </a:xfrm>
          <a:prstGeom prst="bentConnector3">
            <a:avLst>
              <a:gd name="adj1" fmla="val -228600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>
            <a:stCxn id="33" idx="2"/>
            <a:endCxn id="36" idx="0"/>
          </p:cNvCxnSpPr>
          <p:nvPr/>
        </p:nvCxnSpPr>
        <p:spPr>
          <a:xfrm flipH="1">
            <a:off x="6004443" y="5668105"/>
            <a:ext cx="1" cy="295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>
            <a:stCxn id="22" idx="2"/>
            <a:endCxn id="25" idx="0"/>
          </p:cNvCxnSpPr>
          <p:nvPr/>
        </p:nvCxnSpPr>
        <p:spPr>
          <a:xfrm>
            <a:off x="8802356" y="5666420"/>
            <a:ext cx="1" cy="3046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Elbow Connector 77"/>
          <p:cNvCxnSpPr>
            <a:stCxn id="28" idx="3"/>
            <a:endCxn id="31" idx="3"/>
          </p:cNvCxnSpPr>
          <p:nvPr/>
        </p:nvCxnSpPr>
        <p:spPr>
          <a:xfrm>
            <a:off x="9673764" y="1931850"/>
            <a:ext cx="12700" cy="2633076"/>
          </a:xfrm>
          <a:prstGeom prst="bentConnector3">
            <a:avLst>
              <a:gd name="adj1" fmla="val 180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/>
          <p:cNvCxnSpPr>
            <a:stCxn id="26" idx="3"/>
            <a:endCxn id="36" idx="1"/>
          </p:cNvCxnSpPr>
          <p:nvPr/>
        </p:nvCxnSpPr>
        <p:spPr>
          <a:xfrm flipV="1">
            <a:off x="4363217" y="6148471"/>
            <a:ext cx="633036" cy="32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/>
          <p:cNvCxnSpPr>
            <a:stCxn id="36" idx="3"/>
            <a:endCxn id="25" idx="1"/>
          </p:cNvCxnSpPr>
          <p:nvPr/>
        </p:nvCxnSpPr>
        <p:spPr>
          <a:xfrm>
            <a:off x="7012632" y="6148471"/>
            <a:ext cx="781535" cy="72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>
            <a:stCxn id="25" idx="3"/>
            <a:endCxn id="38" idx="1"/>
          </p:cNvCxnSpPr>
          <p:nvPr/>
        </p:nvCxnSpPr>
        <p:spPr>
          <a:xfrm flipV="1">
            <a:off x="9810546" y="6148471"/>
            <a:ext cx="696673" cy="72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>
            <a:stCxn id="38" idx="0"/>
            <a:endCxn id="37" idx="2"/>
          </p:cNvCxnSpPr>
          <p:nvPr/>
        </p:nvCxnSpPr>
        <p:spPr>
          <a:xfrm flipH="1" flipV="1">
            <a:off x="11017045" y="3710053"/>
            <a:ext cx="13245" cy="21152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8233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>
            <a:spLocks/>
          </p:cNvSpPr>
          <p:nvPr/>
        </p:nvSpPr>
        <p:spPr>
          <a:xfrm>
            <a:off x="101314" y="385857"/>
            <a:ext cx="7065394" cy="630143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r>
              <a:rPr lang="en-US" altLang="zh-CN" sz="2800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Case6</a:t>
            </a:r>
            <a:endParaRPr lang="zh-CN" altLang="en-US" sz="28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1314" y="1016000"/>
            <a:ext cx="14893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Gender/F</a:t>
            </a:r>
          </a:p>
          <a:p>
            <a:r>
              <a:rPr lang="en-US" altLang="zh-CN" dirty="0" smtClean="0"/>
              <a:t>Glass/N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123527" y="2754139"/>
            <a:ext cx="7263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Paper</a:t>
            </a:r>
            <a:endParaRPr lang="en-US" altLang="zh-CN" dirty="0"/>
          </a:p>
        </p:txBody>
      </p:sp>
      <p:sp>
        <p:nvSpPr>
          <p:cNvPr id="8" name="Rectangle 7"/>
          <p:cNvSpPr/>
          <p:nvPr/>
        </p:nvSpPr>
        <p:spPr>
          <a:xfrm>
            <a:off x="1122145" y="3988970"/>
            <a:ext cx="5966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 smtClean="0"/>
              <a:t>Ipad</a:t>
            </a:r>
            <a:endParaRPr lang="en-US" altLang="zh-CN" dirty="0"/>
          </a:p>
        </p:txBody>
      </p:sp>
      <p:sp>
        <p:nvSpPr>
          <p:cNvPr id="9" name="Rectangle 8"/>
          <p:cNvSpPr/>
          <p:nvPr/>
        </p:nvSpPr>
        <p:spPr>
          <a:xfrm>
            <a:off x="1123527" y="3194583"/>
            <a:ext cx="317304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Text Accuracy: 144.5 words/min</a:t>
            </a:r>
          </a:p>
          <a:p>
            <a:r>
              <a:rPr lang="en-US" altLang="zh-CN" dirty="0" smtClean="0"/>
              <a:t>Image Distinguish: 57%</a:t>
            </a:r>
            <a:endParaRPr lang="en-US" altLang="zh-CN" dirty="0"/>
          </a:p>
        </p:txBody>
      </p:sp>
      <p:sp>
        <p:nvSpPr>
          <p:cNvPr id="10" name="Rectangle 9"/>
          <p:cNvSpPr/>
          <p:nvPr/>
        </p:nvSpPr>
        <p:spPr>
          <a:xfrm>
            <a:off x="1122145" y="4429414"/>
            <a:ext cx="299832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Text Accuracy: 159 words/min</a:t>
            </a:r>
          </a:p>
          <a:p>
            <a:r>
              <a:rPr lang="en-US" altLang="zh-CN" dirty="0" smtClean="0"/>
              <a:t>Image Distinguish: 50%</a:t>
            </a:r>
            <a:endParaRPr lang="en-US" altLang="zh-C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1645" y="2406413"/>
            <a:ext cx="4933497" cy="3534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163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>
            <a:spLocks/>
          </p:cNvSpPr>
          <p:nvPr/>
        </p:nvSpPr>
        <p:spPr>
          <a:xfrm>
            <a:off x="101314" y="385857"/>
            <a:ext cx="7065394" cy="630143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r>
              <a:rPr lang="en-US" altLang="zh-CN" sz="2800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Facial analysis improvement</a:t>
            </a:r>
            <a:endParaRPr lang="zh-CN" altLang="en-US" sz="28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1314" y="1016000"/>
            <a:ext cx="14893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Gender/F</a:t>
            </a:r>
          </a:p>
          <a:p>
            <a:r>
              <a:rPr lang="en-US" altLang="zh-CN" dirty="0" smtClean="0"/>
              <a:t>Glass/N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628993" y="1998701"/>
            <a:ext cx="48052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Distance analysis: Remove number &gt; 3rd </a:t>
            </a:r>
            <a:r>
              <a:rPr lang="en-US" dirty="0"/>
              <a:t>quantile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993" y="2724943"/>
            <a:ext cx="3833813" cy="2728913"/>
          </a:xfrm>
          <a:prstGeom prst="rect">
            <a:avLst/>
          </a:prstGeom>
        </p:spPr>
      </p:pic>
      <p:cxnSp>
        <p:nvCxnSpPr>
          <p:cNvPr id="12" name="Straight Arrow Connector 11"/>
          <p:cNvCxnSpPr/>
          <p:nvPr/>
        </p:nvCxnSpPr>
        <p:spPr>
          <a:xfrm>
            <a:off x="5065486" y="4089399"/>
            <a:ext cx="103777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938" y="2689224"/>
            <a:ext cx="3957638" cy="280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166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>
            <a:spLocks/>
          </p:cNvSpPr>
          <p:nvPr/>
        </p:nvSpPr>
        <p:spPr>
          <a:xfrm>
            <a:off x="101314" y="385857"/>
            <a:ext cx="7065394" cy="630143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r>
              <a:rPr lang="en-US" altLang="zh-CN" sz="2800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Facial analysis improvement</a:t>
            </a:r>
            <a:endParaRPr lang="zh-CN" altLang="en-US" sz="28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1314" y="1016000"/>
            <a:ext cx="14893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Gender/F</a:t>
            </a:r>
          </a:p>
          <a:p>
            <a:r>
              <a:rPr lang="en-US" altLang="zh-CN" dirty="0" smtClean="0"/>
              <a:t>Glass/N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59" t="5225" r="7613" b="8998"/>
          <a:stretch/>
        </p:blipFill>
        <p:spPr>
          <a:xfrm>
            <a:off x="4498258" y="1441872"/>
            <a:ext cx="7150097" cy="4942348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28171" y="2151101"/>
            <a:ext cx="276357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How to normalize position?</a:t>
            </a:r>
          </a:p>
          <a:p>
            <a:r>
              <a:rPr lang="en-US" altLang="zh-CN" dirty="0" smtClean="0"/>
              <a:t>Reverse relationship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4550345" y="6277830"/>
            <a:ext cx="301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0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1290358" y="6277830"/>
            <a:ext cx="5357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600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4086582" y="1441872"/>
            <a:ext cx="5357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450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428170" y="1854655"/>
            <a:ext cx="18374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Camera: 640*480</a:t>
            </a:r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993" y="4804448"/>
            <a:ext cx="1880204" cy="1387911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3466" y="4813345"/>
            <a:ext cx="1874273" cy="1379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389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 txBox="1">
            <a:spLocks/>
          </p:cNvSpPr>
          <p:nvPr/>
        </p:nvSpPr>
        <p:spPr>
          <a:xfrm>
            <a:off x="101314" y="385857"/>
            <a:ext cx="7065394" cy="630143"/>
          </a:xfrm>
          <a:prstGeom prst="rect">
            <a:avLst/>
          </a:prstGeom>
        </p:spPr>
        <p:txBody>
          <a:bodyPr vert="horz" lIns="91425" tIns="91425" rIns="91425" bIns="91425" rtlCol="0" anchor="t" anchorCtr="0">
            <a:normAutofit/>
          </a:bodyPr>
          <a:lstStyle>
            <a:lvl1pPr lvl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lvl="1">
              <a:spcBef>
                <a:spcPts val="0"/>
              </a:spcBef>
              <a:defRPr/>
            </a:lvl2pPr>
            <a:lvl3pPr lvl="2">
              <a:spcBef>
                <a:spcPts val="0"/>
              </a:spcBef>
              <a:defRPr/>
            </a:lvl3pPr>
            <a:lvl4pPr lvl="3">
              <a:spcBef>
                <a:spcPts val="0"/>
              </a:spcBef>
              <a:defRPr/>
            </a:lvl4pPr>
            <a:lvl5pPr lvl="4">
              <a:spcBef>
                <a:spcPts val="0"/>
              </a:spcBef>
              <a:defRPr/>
            </a:lvl5pPr>
            <a:lvl6pPr lvl="5">
              <a:spcBef>
                <a:spcPts val="0"/>
              </a:spcBef>
              <a:defRPr/>
            </a:lvl6pPr>
            <a:lvl7pPr lvl="6">
              <a:spcBef>
                <a:spcPts val="0"/>
              </a:spcBef>
              <a:defRPr/>
            </a:lvl7pPr>
            <a:lvl8pPr lvl="7">
              <a:spcBef>
                <a:spcPts val="0"/>
              </a:spcBef>
              <a:defRPr/>
            </a:lvl8pPr>
            <a:lvl9pPr lvl="8">
              <a:spcBef>
                <a:spcPts val="0"/>
              </a:spcBef>
              <a:defRPr/>
            </a:lvl9pPr>
          </a:lstStyle>
          <a:p>
            <a:r>
              <a:rPr lang="en-US" altLang="zh-CN" sz="2800" dirty="0" smtClean="0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Trends update</a:t>
            </a:r>
            <a:endParaRPr lang="zh-CN" altLang="en-US" sz="2800" dirty="0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graphicFrame>
        <p:nvGraphicFramePr>
          <p:cNvPr id="8" name="Chart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50981760"/>
              </p:ext>
            </p:extLst>
          </p:nvPr>
        </p:nvGraphicFramePr>
        <p:xfrm>
          <a:off x="446282" y="2955159"/>
          <a:ext cx="5632584" cy="29985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03516639"/>
              </p:ext>
            </p:extLst>
          </p:nvPr>
        </p:nvGraphicFramePr>
        <p:xfrm>
          <a:off x="6011998" y="2955159"/>
          <a:ext cx="5636762" cy="29958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0" name="Chart 9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32987888"/>
              </p:ext>
            </p:extLst>
          </p:nvPr>
        </p:nvGraphicFramePr>
        <p:xfrm>
          <a:off x="6944033" y="209218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569791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2826</TotalTime>
  <Words>661</Words>
  <Application>Microsoft Office PowerPoint</Application>
  <PresentationFormat>Widescreen</PresentationFormat>
  <Paragraphs>433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 Unicode MS</vt:lpstr>
      <vt:lpstr>等线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Jiamin Sun</dc:creator>
  <cp:lastModifiedBy>Jiamin Sun</cp:lastModifiedBy>
  <cp:revision>364</cp:revision>
  <dcterms:created xsi:type="dcterms:W3CDTF">2017-01-30T00:21:28Z</dcterms:created>
  <dcterms:modified xsi:type="dcterms:W3CDTF">2017-05-22T00:04:40Z</dcterms:modified>
</cp:coreProperties>
</file>