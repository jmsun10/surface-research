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0" r:id="rId2"/>
    <p:sldId id="285" r:id="rId3"/>
    <p:sldId id="286" r:id="rId4"/>
    <p:sldId id="287" r:id="rId5"/>
    <p:sldId id="289" r:id="rId6"/>
    <p:sldId id="288" r:id="rId7"/>
    <p:sldId id="29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91" autoAdjust="0"/>
    <p:restoredTop sz="93515" autoAdjust="0"/>
  </p:normalViewPr>
  <p:slideViewPr>
    <p:cSldViewPr snapToGrid="0">
      <p:cViewPr varScale="1">
        <p:scale>
          <a:sx n="65" d="100"/>
          <a:sy n="65" d="100"/>
        </p:scale>
        <p:origin x="789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513_2017dataAnalysis\analysisexcel\rat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513_2017dataAnalysis\analysisexcel\rat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513_2017dataAnalysis\analysisexcel\ratin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Preference from reading on paper to electric surfaces: from 1 to 5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2">
                  <a:tint val="5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8CB-488F-ABB7-9131B40F487E}"/>
              </c:ext>
            </c:extLst>
          </c:dPt>
          <c:dPt>
            <c:idx val="1"/>
            <c:bubble3D val="0"/>
            <c:spPr>
              <a:solidFill>
                <a:schemeClr val="accent2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8CB-488F-ABB7-9131B40F487E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8CB-488F-ABB7-9131B40F487E}"/>
              </c:ext>
            </c:extLst>
          </c:dPt>
          <c:dPt>
            <c:idx val="3"/>
            <c:bubble3D val="0"/>
            <c:spPr>
              <a:solidFill>
                <a:schemeClr val="accent2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8CB-488F-ABB7-9131B40F487E}"/>
              </c:ext>
            </c:extLst>
          </c:dPt>
          <c:dPt>
            <c:idx val="4"/>
            <c:bubble3D val="0"/>
            <c:spPr>
              <a:solidFill>
                <a:schemeClr val="accent2">
                  <a:shade val="5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8CB-488F-ABB7-9131B40F487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val>
            <c:numRef>
              <c:f>Sheet1!$B$14:$B$18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8CB-488F-ABB7-9131B40F487E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text accuracy(paper)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Sheet1!$B$8:$Q$8</c:f>
              <c:numCache>
                <c:formatCode>General</c:formatCode>
                <c:ptCount val="16"/>
                <c:pt idx="0">
                  <c:v>164.5</c:v>
                </c:pt>
                <c:pt idx="1">
                  <c:v>143.5</c:v>
                </c:pt>
                <c:pt idx="2">
                  <c:v>145</c:v>
                </c:pt>
                <c:pt idx="3">
                  <c:v>164.5</c:v>
                </c:pt>
                <c:pt idx="4">
                  <c:v>151.5</c:v>
                </c:pt>
                <c:pt idx="5">
                  <c:v>144.5</c:v>
                </c:pt>
                <c:pt idx="6">
                  <c:v>129.5</c:v>
                </c:pt>
                <c:pt idx="7">
                  <c:v>156.5</c:v>
                </c:pt>
                <c:pt idx="8">
                  <c:v>162</c:v>
                </c:pt>
                <c:pt idx="9">
                  <c:v>129</c:v>
                </c:pt>
                <c:pt idx="10">
                  <c:v>159.5</c:v>
                </c:pt>
                <c:pt idx="11">
                  <c:v>137</c:v>
                </c:pt>
                <c:pt idx="12">
                  <c:v>146</c:v>
                </c:pt>
                <c:pt idx="13">
                  <c:v>172.5</c:v>
                </c:pt>
                <c:pt idx="14">
                  <c:v>168.5</c:v>
                </c:pt>
                <c:pt idx="15">
                  <c:v>151.5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0D-4AA2-89A5-93351960BE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 accuracy(ipad)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Sheet1!$B$10:$Q$10</c:f>
              <c:numCache>
                <c:formatCode>General</c:formatCode>
                <c:ptCount val="16"/>
                <c:pt idx="0">
                  <c:v>132.5</c:v>
                </c:pt>
                <c:pt idx="1">
                  <c:v>134</c:v>
                </c:pt>
                <c:pt idx="2">
                  <c:v>142</c:v>
                </c:pt>
                <c:pt idx="3">
                  <c:v>153</c:v>
                </c:pt>
                <c:pt idx="4">
                  <c:v>143</c:v>
                </c:pt>
                <c:pt idx="5">
                  <c:v>159</c:v>
                </c:pt>
                <c:pt idx="6">
                  <c:v>130.5</c:v>
                </c:pt>
                <c:pt idx="7">
                  <c:v>153.5</c:v>
                </c:pt>
                <c:pt idx="8">
                  <c:v>163</c:v>
                </c:pt>
                <c:pt idx="9">
                  <c:v>129</c:v>
                </c:pt>
                <c:pt idx="10">
                  <c:v>157.5</c:v>
                </c:pt>
                <c:pt idx="11">
                  <c:v>135</c:v>
                </c:pt>
                <c:pt idx="12">
                  <c:v>145.5</c:v>
                </c:pt>
                <c:pt idx="13">
                  <c:v>150</c:v>
                </c:pt>
                <c:pt idx="14">
                  <c:v>168.5</c:v>
                </c:pt>
                <c:pt idx="15">
                  <c:v>147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0D-4AA2-89A5-93351960BE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test cases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Accuracy/minute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Sheet1!$B$9:$Q$9</c:f>
              <c:numCache>
                <c:formatCode>General</c:formatCode>
                <c:ptCount val="16"/>
                <c:pt idx="0">
                  <c:v>0.71399999999999997</c:v>
                </c:pt>
                <c:pt idx="1">
                  <c:v>0.93</c:v>
                </c:pt>
                <c:pt idx="2">
                  <c:v>0.78</c:v>
                </c:pt>
                <c:pt idx="3">
                  <c:v>0.85</c:v>
                </c:pt>
                <c:pt idx="4">
                  <c:v>1</c:v>
                </c:pt>
                <c:pt idx="5">
                  <c:v>0.56999999999999995</c:v>
                </c:pt>
                <c:pt idx="6">
                  <c:v>0.71399999999999997</c:v>
                </c:pt>
                <c:pt idx="7">
                  <c:v>0.78600000000000003</c:v>
                </c:pt>
                <c:pt idx="8">
                  <c:v>0.56999999999999995</c:v>
                </c:pt>
                <c:pt idx="9">
                  <c:v>0.78600000000000003</c:v>
                </c:pt>
                <c:pt idx="10">
                  <c:v>0.92900000000000005</c:v>
                </c:pt>
                <c:pt idx="11">
                  <c:v>0.85699999999999998</c:v>
                </c:pt>
                <c:pt idx="12">
                  <c:v>0.43</c:v>
                </c:pt>
                <c:pt idx="13">
                  <c:v>0.85699999999999998</c:v>
                </c:pt>
                <c:pt idx="14">
                  <c:v>0.85699999999999998</c:v>
                </c:pt>
                <c:pt idx="15">
                  <c:v>0.92900000000000005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26-45CC-8BB2-DDC4099DA99D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image(ipad)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Sheet1!$B$11:$Q$11</c:f>
              <c:numCache>
                <c:formatCode>General</c:formatCode>
                <c:ptCount val="16"/>
                <c:pt idx="0">
                  <c:v>0.75</c:v>
                </c:pt>
                <c:pt idx="1">
                  <c:v>0.75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0.5</c:v>
                </c:pt>
                <c:pt idx="6">
                  <c:v>0.625</c:v>
                </c:pt>
                <c:pt idx="7">
                  <c:v>0.875</c:v>
                </c:pt>
                <c:pt idx="8">
                  <c:v>0.625</c:v>
                </c:pt>
                <c:pt idx="9">
                  <c:v>0.5</c:v>
                </c:pt>
                <c:pt idx="10">
                  <c:v>0.625</c:v>
                </c:pt>
                <c:pt idx="11">
                  <c:v>0.5</c:v>
                </c:pt>
                <c:pt idx="12">
                  <c:v>0.375</c:v>
                </c:pt>
                <c:pt idx="13">
                  <c:v>0.875</c:v>
                </c:pt>
                <c:pt idx="14">
                  <c:v>0.75</c:v>
                </c:pt>
                <c:pt idx="15">
                  <c:v>0.875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526-45CC-8BB2-DDC4099DA9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test cases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Accuracy/minute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7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Sheet1!$A$2:$A$8</c:f>
              <c:numCache>
                <c:formatCode>h:mm</c:formatCode>
                <c:ptCount val="7"/>
                <c:pt idx="0">
                  <c:v>0.36458333333333331</c:v>
                </c:pt>
                <c:pt idx="1">
                  <c:v>0.36458333333333331</c:v>
                </c:pt>
                <c:pt idx="2">
                  <c:v>0.36458333333333331</c:v>
                </c:pt>
                <c:pt idx="3">
                  <c:v>0.36458333333333331</c:v>
                </c:pt>
                <c:pt idx="4">
                  <c:v>0.36458333333333331</c:v>
                </c:pt>
                <c:pt idx="5">
                  <c:v>0.36458333333333331</c:v>
                </c:pt>
                <c:pt idx="6">
                  <c:v>0.36458333333333331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</c:v>
                </c:pt>
                <c:pt idx="1">
                  <c:v>84</c:v>
                </c:pt>
                <c:pt idx="2">
                  <c:v>83</c:v>
                </c:pt>
                <c:pt idx="3">
                  <c:v>86</c:v>
                </c:pt>
                <c:pt idx="4">
                  <c:v>94</c:v>
                </c:pt>
                <c:pt idx="5">
                  <c:v>94</c:v>
                </c:pt>
                <c:pt idx="6">
                  <c:v>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12-413C-BB24-0A057E960B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518213744"/>
        <c:axId val="218841976"/>
      </c:lineChart>
      <c:catAx>
        <c:axId val="518213744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8841976"/>
        <c:crosses val="autoZero"/>
        <c:auto val="1"/>
        <c:lblAlgn val="ctr"/>
        <c:lblOffset val="100"/>
        <c:noMultiLvlLbl val="0"/>
      </c:catAx>
      <c:valAx>
        <c:axId val="218841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8213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7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0845am</c:v>
                </c:pt>
                <c:pt idx="1">
                  <c:v>0850am</c:v>
                </c:pt>
                <c:pt idx="2">
                  <c:v>0855am</c:v>
                </c:pt>
                <c:pt idx="3">
                  <c:v>0900am</c:v>
                </c:pt>
                <c:pt idx="4">
                  <c:v>0905am</c:v>
                </c:pt>
                <c:pt idx="5">
                  <c:v>0910am</c:v>
                </c:pt>
                <c:pt idx="6">
                  <c:v>0915am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</c:v>
                </c:pt>
                <c:pt idx="1">
                  <c:v>84</c:v>
                </c:pt>
                <c:pt idx="2">
                  <c:v>83</c:v>
                </c:pt>
                <c:pt idx="3">
                  <c:v>86</c:v>
                </c:pt>
                <c:pt idx="4">
                  <c:v>94</c:v>
                </c:pt>
                <c:pt idx="5">
                  <c:v>94</c:v>
                </c:pt>
                <c:pt idx="6">
                  <c:v>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1D-4824-8226-1DB44C2820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518213744"/>
        <c:axId val="218841976"/>
      </c:lineChart>
      <c:catAx>
        <c:axId val="518213744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8841976"/>
        <c:crosses val="autoZero"/>
        <c:auto val="1"/>
        <c:lblAlgn val="ctr"/>
        <c:lblOffset val="100"/>
        <c:noMultiLvlLbl val="0"/>
      </c:catAx>
      <c:valAx>
        <c:axId val="218841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8213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7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1330pm</c:v>
                </c:pt>
                <c:pt idx="1">
                  <c:v>1335pm</c:v>
                </c:pt>
                <c:pt idx="2">
                  <c:v>1340pm</c:v>
                </c:pt>
                <c:pt idx="3">
                  <c:v>1345pm</c:v>
                </c:pt>
                <c:pt idx="4">
                  <c:v>1350pm</c:v>
                </c:pt>
                <c:pt idx="5">
                  <c:v>1355pm</c:v>
                </c:pt>
                <c:pt idx="6">
                  <c:v>1400pm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294</c:v>
                </c:pt>
                <c:pt idx="1">
                  <c:v>306</c:v>
                </c:pt>
                <c:pt idx="2">
                  <c:v>381</c:v>
                </c:pt>
                <c:pt idx="3">
                  <c:v>393</c:v>
                </c:pt>
                <c:pt idx="4">
                  <c:v>333</c:v>
                </c:pt>
                <c:pt idx="5">
                  <c:v>346</c:v>
                </c:pt>
                <c:pt idx="6">
                  <c:v>327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73-458F-91EB-75CBB9D90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518213744"/>
        <c:axId val="218841976"/>
      </c:lineChart>
      <c:catAx>
        <c:axId val="518213744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8841976"/>
        <c:crosses val="autoZero"/>
        <c:auto val="1"/>
        <c:lblAlgn val="ctr"/>
        <c:lblOffset val="100"/>
        <c:noMultiLvlLbl val="0"/>
      </c:catAx>
      <c:valAx>
        <c:axId val="218841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8213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4B3FD-5CA6-4F8D-87DB-923C724B26AD}" type="datetimeFigureOut">
              <a:rPr lang="en-US" smtClean="0"/>
              <a:t>6/5/2017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3DA5E-4F1F-4F9D-A982-7D5FFAF79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35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47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56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53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16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47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7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83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6/5/2017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8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6/5/2017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70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6/5/2017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7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6/5/2017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6/5/2017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15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6/5/2017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6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6/5/2017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92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6/5/2017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0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6/5/2017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7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6/5/2017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51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6/5/2017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98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8F32-33AF-47F0-AE00-4D33ACB67E6E}" type="datetimeFigureOut">
              <a:rPr lang="en-US" smtClean="0"/>
              <a:t>6/5/2017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0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9384" y="3928439"/>
            <a:ext cx="2172677" cy="646331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Control data collected from GUI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9383" y="2060857"/>
            <a:ext cx="2172677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Basic information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24476" y="1999924"/>
            <a:ext cx="1238741" cy="92333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Paper test </a:t>
            </a:r>
            <a:r>
              <a:rPr lang="en-US" dirty="0" err="1" smtClean="0"/>
              <a:t>test</a:t>
            </a:r>
            <a:r>
              <a:rPr lang="en-US" dirty="0" smtClean="0"/>
              <a:t> time for each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24475" y="3844379"/>
            <a:ext cx="1238742" cy="92333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Ipad</a:t>
            </a:r>
            <a:r>
              <a:rPr lang="en-US" dirty="0" smtClean="0"/>
              <a:t> test time for each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996261" y="1747184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text1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555427" y="1747184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text2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996260" y="2272751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image3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555427" y="2271497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image4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996257" y="2800431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image5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555426" y="2800431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image6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996256" y="3595811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text1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555429" y="3592905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text2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996255" y="4121378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image3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555428" y="4121378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image4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996255" y="4646945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image5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555427" y="4646152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image6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836039" y="1149556"/>
            <a:ext cx="155917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Input accuracy 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022770" y="5297088"/>
            <a:ext cx="155917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Motion data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7794167" y="5971090"/>
            <a:ext cx="201637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by minute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124475" y="5967099"/>
            <a:ext cx="1238742" cy="369221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Total time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114593" y="1747184"/>
            <a:ext cx="155917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8114593" y="2534539"/>
            <a:ext cx="155917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114593" y="3592905"/>
            <a:ext cx="155917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8114593" y="4380260"/>
            <a:ext cx="155917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224858" y="5298773"/>
            <a:ext cx="155917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Facial data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996253" y="5963805"/>
            <a:ext cx="201637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by minute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0301748" y="3063722"/>
            <a:ext cx="1430594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Visualization Model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0507219" y="5825305"/>
            <a:ext cx="1046141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Solar data</a:t>
            </a:r>
            <a:endParaRPr lang="en-US" dirty="0"/>
          </a:p>
        </p:txBody>
      </p:sp>
      <p:cxnSp>
        <p:nvCxnSpPr>
          <p:cNvPr id="39" name="Elbow Connector 38"/>
          <p:cNvCxnSpPr>
            <a:stCxn id="6" idx="1"/>
            <a:endCxn id="26" idx="1"/>
          </p:cNvCxnSpPr>
          <p:nvPr/>
        </p:nvCxnSpPr>
        <p:spPr>
          <a:xfrm rot="10800000" flipV="1">
            <a:off x="3124476" y="2461588"/>
            <a:ext cx="1" cy="3690121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" idx="0"/>
          </p:cNvCxnSpPr>
          <p:nvPr/>
        </p:nvCxnSpPr>
        <p:spPr>
          <a:xfrm flipV="1">
            <a:off x="1535723" y="2456163"/>
            <a:ext cx="0" cy="1472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" idx="3"/>
          </p:cNvCxnSpPr>
          <p:nvPr/>
        </p:nvCxnSpPr>
        <p:spPr>
          <a:xfrm flipV="1">
            <a:off x="2622061" y="4251604"/>
            <a:ext cx="26124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15" idx="1"/>
            <a:endCxn id="19" idx="1"/>
          </p:cNvCxnSpPr>
          <p:nvPr/>
        </p:nvCxnSpPr>
        <p:spPr>
          <a:xfrm rot="10800000" flipV="1">
            <a:off x="4996256" y="3780477"/>
            <a:ext cx="1" cy="1051134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9" idx="1"/>
            <a:endCxn id="13" idx="1"/>
          </p:cNvCxnSpPr>
          <p:nvPr/>
        </p:nvCxnSpPr>
        <p:spPr>
          <a:xfrm rot="10800000" flipV="1">
            <a:off x="4996257" y="1931849"/>
            <a:ext cx="4" cy="1053247"/>
          </a:xfrm>
          <a:prstGeom prst="bentConnector3">
            <a:avLst>
              <a:gd name="adj1" fmla="val 5715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1" idx="2"/>
            <a:endCxn id="9" idx="0"/>
          </p:cNvCxnSpPr>
          <p:nvPr/>
        </p:nvCxnSpPr>
        <p:spPr>
          <a:xfrm>
            <a:off x="5615625" y="1518888"/>
            <a:ext cx="7" cy="228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6" idx="3"/>
          </p:cNvCxnSpPr>
          <p:nvPr/>
        </p:nvCxnSpPr>
        <p:spPr>
          <a:xfrm>
            <a:off x="4363217" y="2461589"/>
            <a:ext cx="396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7" idx="3"/>
          </p:cNvCxnSpPr>
          <p:nvPr/>
        </p:nvCxnSpPr>
        <p:spPr>
          <a:xfrm>
            <a:off x="4363217" y="4306044"/>
            <a:ext cx="396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0" idx="3"/>
            <a:endCxn id="28" idx="1"/>
          </p:cNvCxnSpPr>
          <p:nvPr/>
        </p:nvCxnSpPr>
        <p:spPr>
          <a:xfrm>
            <a:off x="7794168" y="1931850"/>
            <a:ext cx="3204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6" idx="3"/>
            <a:endCxn id="30" idx="1"/>
          </p:cNvCxnSpPr>
          <p:nvPr/>
        </p:nvCxnSpPr>
        <p:spPr>
          <a:xfrm>
            <a:off x="7794170" y="3777571"/>
            <a:ext cx="3204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8" idx="3"/>
            <a:endCxn id="20" idx="3"/>
          </p:cNvCxnSpPr>
          <p:nvPr/>
        </p:nvCxnSpPr>
        <p:spPr>
          <a:xfrm flipH="1">
            <a:off x="7794168" y="4306044"/>
            <a:ext cx="1" cy="524774"/>
          </a:xfrm>
          <a:prstGeom prst="bentConnector3">
            <a:avLst>
              <a:gd name="adj1" fmla="val -228600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/>
          <p:cNvCxnSpPr>
            <a:stCxn id="12" idx="3"/>
            <a:endCxn id="14" idx="3"/>
          </p:cNvCxnSpPr>
          <p:nvPr/>
        </p:nvCxnSpPr>
        <p:spPr>
          <a:xfrm flipH="1">
            <a:off x="7794167" y="2456163"/>
            <a:ext cx="1" cy="528934"/>
          </a:xfrm>
          <a:prstGeom prst="bentConnector3">
            <a:avLst>
              <a:gd name="adj1" fmla="val -228600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33" idx="2"/>
            <a:endCxn id="36" idx="0"/>
          </p:cNvCxnSpPr>
          <p:nvPr/>
        </p:nvCxnSpPr>
        <p:spPr>
          <a:xfrm flipH="1">
            <a:off x="6004443" y="5668105"/>
            <a:ext cx="1" cy="295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22" idx="2"/>
            <a:endCxn id="25" idx="0"/>
          </p:cNvCxnSpPr>
          <p:nvPr/>
        </p:nvCxnSpPr>
        <p:spPr>
          <a:xfrm>
            <a:off x="8802356" y="5666420"/>
            <a:ext cx="1" cy="304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/>
          <p:cNvCxnSpPr>
            <a:stCxn id="28" idx="3"/>
            <a:endCxn id="31" idx="3"/>
          </p:cNvCxnSpPr>
          <p:nvPr/>
        </p:nvCxnSpPr>
        <p:spPr>
          <a:xfrm>
            <a:off x="9673764" y="1931850"/>
            <a:ext cx="12700" cy="263307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26" idx="3"/>
            <a:endCxn id="36" idx="1"/>
          </p:cNvCxnSpPr>
          <p:nvPr/>
        </p:nvCxnSpPr>
        <p:spPr>
          <a:xfrm flipV="1">
            <a:off x="4363217" y="6148471"/>
            <a:ext cx="633036" cy="3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36" idx="3"/>
            <a:endCxn id="25" idx="1"/>
          </p:cNvCxnSpPr>
          <p:nvPr/>
        </p:nvCxnSpPr>
        <p:spPr>
          <a:xfrm>
            <a:off x="7012632" y="6148471"/>
            <a:ext cx="781535" cy="7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25" idx="3"/>
            <a:endCxn id="38" idx="1"/>
          </p:cNvCxnSpPr>
          <p:nvPr/>
        </p:nvCxnSpPr>
        <p:spPr>
          <a:xfrm flipV="1">
            <a:off x="9810546" y="6148471"/>
            <a:ext cx="696673" cy="7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38" idx="0"/>
            <a:endCxn id="37" idx="2"/>
          </p:cNvCxnSpPr>
          <p:nvPr/>
        </p:nvCxnSpPr>
        <p:spPr>
          <a:xfrm flipH="1" flipV="1">
            <a:off x="11017045" y="3710053"/>
            <a:ext cx="13245" cy="2115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23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314" y="1016000"/>
            <a:ext cx="416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Text test and preference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668152" y="5525514"/>
            <a:ext cx="2487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More subjects preferred paper. 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790055" y="6164611"/>
            <a:ext cx="49264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According to the newly collected data, the text test performance 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becomes closer when the weather is cloudy. </a:t>
            </a:r>
            <a:endParaRPr lang="en-US" sz="1400" dirty="0"/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0825457"/>
              </p:ext>
            </p:extLst>
          </p:nvPr>
        </p:nvGraphicFramePr>
        <p:xfrm>
          <a:off x="7670800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9403828"/>
              </p:ext>
            </p:extLst>
          </p:nvPr>
        </p:nvGraphicFramePr>
        <p:xfrm>
          <a:off x="204309" y="1923010"/>
          <a:ext cx="6638178" cy="35338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6979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416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Image test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274862" y="2086682"/>
            <a:ext cx="328787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Image test may be differed by individual abilities. And the difference between paper and </a:t>
            </a:r>
            <a:r>
              <a:rPr lang="en-US" sz="14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ipad</a:t>
            </a:r>
            <a:r>
              <a:rPr lang="en-US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is more obvious. </a:t>
            </a:r>
            <a:endParaRPr lang="en-US" sz="1400" dirty="0"/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7105625"/>
              </p:ext>
            </p:extLst>
          </p:nvPr>
        </p:nvGraphicFramePr>
        <p:xfrm>
          <a:off x="646340" y="2086682"/>
          <a:ext cx="6604847" cy="35103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2739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416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Face position: case 8 analysis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78256" y="4026807"/>
            <a:ext cx="1177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Ipad</a:t>
            </a:r>
            <a:r>
              <a:rPr lang="en-US" altLang="zh-CN" dirty="0" smtClean="0"/>
              <a:t> text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84469" y="4026806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Ipad</a:t>
            </a:r>
            <a:r>
              <a:rPr lang="en-US" altLang="zh-CN" dirty="0" smtClean="0"/>
              <a:t> image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82643" y="4026804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Paper image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133556" y="4026804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Paper text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98" y="2062745"/>
            <a:ext cx="2730568" cy="18869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254" y="2110952"/>
            <a:ext cx="2761558" cy="18387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898" y="2097178"/>
            <a:ext cx="2699578" cy="185251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563" y="2073534"/>
            <a:ext cx="2720238" cy="18766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7419" y="3517899"/>
            <a:ext cx="486697" cy="1691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639092" y="3343276"/>
            <a:ext cx="793208" cy="3438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76160" y="2329816"/>
            <a:ext cx="323850" cy="3028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913813" y="2329816"/>
            <a:ext cx="323850" cy="3028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262068" y="3299603"/>
            <a:ext cx="323850" cy="1484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403355" y="3481546"/>
            <a:ext cx="332908" cy="225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9947742" y="3483375"/>
            <a:ext cx="397995" cy="225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520938" y="3481546"/>
            <a:ext cx="397995" cy="225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1314" y="1379374"/>
            <a:ext cx="24563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case8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_0517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gender/m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glass/n</a:t>
            </a:r>
            <a:r>
              <a:rPr lang="en-US" sz="1400" dirty="0"/>
              <a:t> </a:t>
            </a:r>
          </a:p>
        </p:txBody>
      </p:sp>
      <p:graphicFrame>
        <p:nvGraphicFramePr>
          <p:cNvPr id="25" name="Chart 24"/>
          <p:cNvGraphicFramePr/>
          <p:nvPr>
            <p:extLst>
              <p:ext uri="{D42A27DB-BD31-4B8C-83A1-F6EECF244321}">
                <p14:modId xmlns:p14="http://schemas.microsoft.com/office/powerpoint/2010/main" val="2103839778"/>
              </p:ext>
            </p:extLst>
          </p:nvPr>
        </p:nvGraphicFramePr>
        <p:xfrm>
          <a:off x="443914" y="5044647"/>
          <a:ext cx="4607409" cy="1699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7" name="Rectangle 26"/>
          <p:cNvSpPr/>
          <p:nvPr/>
        </p:nvSpPr>
        <p:spPr>
          <a:xfrm>
            <a:off x="465308" y="4861793"/>
            <a:ext cx="13548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Solar Rad, W/m^2</a:t>
            </a:r>
            <a:r>
              <a:rPr lang="en-US" sz="1200" dirty="0"/>
              <a:t>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4900" y="4830941"/>
            <a:ext cx="32676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(0517 data missing, waiting for Jay’s reply)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7672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416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Face position: case 9 analysis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78256" y="4026807"/>
            <a:ext cx="1177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Ipad</a:t>
            </a:r>
            <a:r>
              <a:rPr lang="en-US" altLang="zh-CN" dirty="0" smtClean="0"/>
              <a:t> text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84469" y="4026806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Ipad</a:t>
            </a:r>
            <a:r>
              <a:rPr lang="en-US" altLang="zh-CN" dirty="0" smtClean="0"/>
              <a:t> image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82643" y="4026805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Paper image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133556" y="4026804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Paper text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" y="2011648"/>
            <a:ext cx="2763100" cy="18754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655" y="1970201"/>
            <a:ext cx="2814908" cy="19169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987" y="1984035"/>
            <a:ext cx="2759646" cy="19341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250" y="2018333"/>
            <a:ext cx="2763100" cy="192380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101849" y="2184124"/>
            <a:ext cx="353757" cy="3438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85418" y="2310329"/>
            <a:ext cx="848520" cy="4114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287159" y="2668469"/>
            <a:ext cx="187811" cy="246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992938" y="2392957"/>
            <a:ext cx="234523" cy="246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278688" y="2392957"/>
            <a:ext cx="234523" cy="246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057607" y="2356034"/>
            <a:ext cx="288924" cy="3032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933964" y="2611364"/>
            <a:ext cx="174567" cy="1270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1224476" y="2787576"/>
            <a:ext cx="174567" cy="1270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1314" y="1308387"/>
            <a:ext cx="23553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case9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_0525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gender/f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glass/y</a:t>
            </a:r>
            <a:r>
              <a:rPr lang="en-US" sz="1400" dirty="0"/>
              <a:t> </a:t>
            </a:r>
          </a:p>
        </p:txBody>
      </p:sp>
      <p:graphicFrame>
        <p:nvGraphicFramePr>
          <p:cNvPr id="21" name="Chart 20"/>
          <p:cNvGraphicFramePr/>
          <p:nvPr>
            <p:extLst>
              <p:ext uri="{D42A27DB-BD31-4B8C-83A1-F6EECF244321}">
                <p14:modId xmlns:p14="http://schemas.microsoft.com/office/powerpoint/2010/main" val="1697083001"/>
              </p:ext>
            </p:extLst>
          </p:nvPr>
        </p:nvGraphicFramePr>
        <p:xfrm>
          <a:off x="421791" y="5044647"/>
          <a:ext cx="4607409" cy="1699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2" name="Rectangle 21"/>
          <p:cNvSpPr/>
          <p:nvPr/>
        </p:nvSpPr>
        <p:spPr>
          <a:xfrm>
            <a:off x="443185" y="4861793"/>
            <a:ext cx="13548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Solar Rad, W/m^2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9688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78256" y="4026807"/>
            <a:ext cx="1177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Ipad</a:t>
            </a:r>
            <a:r>
              <a:rPr lang="en-US" altLang="zh-CN" dirty="0" smtClean="0"/>
              <a:t> text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84469" y="4026806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Ipad</a:t>
            </a:r>
            <a:r>
              <a:rPr lang="en-US" altLang="zh-CN" dirty="0" smtClean="0"/>
              <a:t> image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982643" y="4026805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Paper image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133556" y="4026804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Paper text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314" y="1016000"/>
            <a:ext cx="416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Face position: case 11 analysis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3" y="1850991"/>
            <a:ext cx="2974110" cy="207331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045" y="1851188"/>
            <a:ext cx="2944332" cy="205842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377" y="1850991"/>
            <a:ext cx="2918275" cy="199514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709" y="1815630"/>
            <a:ext cx="2988999" cy="206587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634011" y="2929644"/>
            <a:ext cx="712389" cy="692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9420707" y="2929644"/>
            <a:ext cx="712389" cy="692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699251" y="3263899"/>
            <a:ext cx="467458" cy="326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578343" y="2929644"/>
            <a:ext cx="241557" cy="2707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1314" y="1276695"/>
            <a:ext cx="25349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case11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_0526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gender/m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glass/y</a:t>
            </a:r>
            <a:r>
              <a:rPr lang="en-US" sz="1400" dirty="0"/>
              <a:t> </a:t>
            </a:r>
          </a:p>
        </p:txBody>
      </p:sp>
      <p:graphicFrame>
        <p:nvGraphicFramePr>
          <p:cNvPr id="22" name="Chart 21"/>
          <p:cNvGraphicFramePr/>
          <p:nvPr>
            <p:extLst>
              <p:ext uri="{D42A27DB-BD31-4B8C-83A1-F6EECF244321}">
                <p14:modId xmlns:p14="http://schemas.microsoft.com/office/powerpoint/2010/main" val="1069242960"/>
              </p:ext>
            </p:extLst>
          </p:nvPr>
        </p:nvGraphicFramePr>
        <p:xfrm>
          <a:off x="443914" y="5044647"/>
          <a:ext cx="4607409" cy="1699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3" name="Rectangle 22"/>
          <p:cNvSpPr/>
          <p:nvPr/>
        </p:nvSpPr>
        <p:spPr>
          <a:xfrm>
            <a:off x="465308" y="4861793"/>
            <a:ext cx="13548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Solar Rad, W/m^2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088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1314" y="1016000"/>
            <a:ext cx="41683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 smtClean="0"/>
          </a:p>
          <a:p>
            <a:r>
              <a:rPr lang="en-US" altLang="zh-CN" dirty="0" smtClean="0"/>
              <a:t>1. How to project the face position</a:t>
            </a:r>
          </a:p>
          <a:p>
            <a:r>
              <a:rPr lang="en-US" altLang="zh-CN" dirty="0" smtClean="0"/>
              <a:t>to the visualization model</a:t>
            </a:r>
            <a:r>
              <a:rPr lang="en-US" altLang="zh-CN" dirty="0" smtClean="0"/>
              <a:t>?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6" b="26582"/>
          <a:stretch/>
        </p:blipFill>
        <p:spPr>
          <a:xfrm>
            <a:off x="4055806" y="1244834"/>
            <a:ext cx="7646348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3607</TotalTime>
  <Words>240</Words>
  <Application>Microsoft Office PowerPoint</Application>
  <PresentationFormat>Widescreen</PresentationFormat>
  <Paragraphs>95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 Unicode MS</vt:lpstr>
      <vt:lpstr>等线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Jiamin Sun</dc:creator>
  <cp:lastModifiedBy>Jiamin Sun</cp:lastModifiedBy>
  <cp:revision>430</cp:revision>
  <dcterms:created xsi:type="dcterms:W3CDTF">2017-01-30T00:21:28Z</dcterms:created>
  <dcterms:modified xsi:type="dcterms:W3CDTF">2017-06-05T18:35:50Z</dcterms:modified>
</cp:coreProperties>
</file>