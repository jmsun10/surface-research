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0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1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270" r:id="rId4"/>
    <p:sldId id="272" r:id="rId5"/>
    <p:sldId id="273" r:id="rId6"/>
    <p:sldId id="275" r:id="rId7"/>
    <p:sldId id="276" r:id="rId8"/>
    <p:sldId id="277" r:id="rId9"/>
    <p:sldId id="274" r:id="rId10"/>
    <p:sldId id="278" r:id="rId11"/>
    <p:sldId id="281" r:id="rId12"/>
    <p:sldId id="279" r:id="rId13"/>
    <p:sldId id="280" r:id="rId14"/>
    <p:sldId id="282" r:id="rId15"/>
    <p:sldId id="283" r:id="rId16"/>
    <p:sldId id="284" r:id="rId17"/>
    <p:sldId id="285" r:id="rId18"/>
    <p:sldId id="286" r:id="rId19"/>
    <p:sldId id="287" r:id="rId20"/>
    <p:sldId id="289" r:id="rId21"/>
    <p:sldId id="288" r:id="rId22"/>
    <p:sldId id="29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91" autoAdjust="0"/>
    <p:restoredTop sz="93515" autoAdjust="0"/>
  </p:normalViewPr>
  <p:slideViewPr>
    <p:cSldViewPr snapToGrid="0">
      <p:cViewPr varScale="1">
        <p:scale>
          <a:sx n="65" d="100"/>
          <a:sy n="65" d="100"/>
        </p:scale>
        <p:origin x="78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iamin_Sun\EbackUp\3D%20visualization%20and%20animation\0225_2017experiment\ra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iamin_Sun\EbackUp\3D%20visualization%20and%20animation\0225_2017experiment\ra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225_2017experiment\rat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225_2017experiment\rat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Sheet1!$B$8:$E$8</c:f>
              <c:numCache>
                <c:formatCode>General</c:formatCode>
                <c:ptCount val="4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51-4EA4-B7DC-1DC9EBBF7BCD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text accuracy(i)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Sheet1!$B$10:$E$10</c:f>
              <c:numCache>
                <c:formatCode>General</c:formatCode>
                <c:ptCount val="4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51-4EA4-B7DC-1DC9EBBF7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image dis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Sheet1!$B$9:$E$9</c:f>
              <c:numCache>
                <c:formatCode>General</c:formatCode>
                <c:ptCount val="4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3-4C1D-A378-BA0F068BF40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 dis(i)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Sheet1!$B$11:$E$11</c:f>
              <c:numCache>
                <c:formatCode>General</c:formatCode>
                <c:ptCount val="4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93-4C1D-A378-BA0F068BF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Sheet1!$B$8:$F$8</c:f>
              <c:numCache>
                <c:formatCode>General</c:formatCode>
                <c:ptCount val="5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4A-4E24-86F7-27F4E1FAFA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Sheet1!$B$10:$F$10</c:f>
              <c:numCache>
                <c:formatCode>General</c:formatCode>
                <c:ptCount val="5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4A-4E24-86F7-27F4E1FAFA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Sheet1!$B$9:$F$9</c:f>
              <c:numCache>
                <c:formatCode>General</c:formatCode>
                <c:ptCount val="5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59-4B67-998D-6F3EE28EF3A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Sheet1!$B$11:$F$11</c:f>
              <c:numCache>
                <c:formatCode>General</c:formatCode>
                <c:ptCount val="5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59-4B67-998D-6F3EE28EF3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Preference from reading on paper to electric surfaces: from 1 to 5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FD-4930-BE66-64C6DE00B03A}"/>
              </c:ext>
            </c:extLst>
          </c:dPt>
          <c:dPt>
            <c:idx val="1"/>
            <c:bubble3D val="0"/>
            <c:spPr>
              <a:solidFill>
                <a:schemeClr val="accent2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FD-4930-BE66-64C6DE00B03A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FD-4930-BE66-64C6DE00B03A}"/>
              </c:ext>
            </c:extLst>
          </c:dPt>
          <c:dPt>
            <c:idx val="3"/>
            <c:bubble3D val="0"/>
            <c:spPr>
              <a:solidFill>
                <a:schemeClr val="accent2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FD-4930-BE66-64C6DE00B03A}"/>
              </c:ext>
            </c:extLst>
          </c:dPt>
          <c:dPt>
            <c:idx val="4"/>
            <c:bubble3D val="0"/>
            <c:spPr>
              <a:solidFill>
                <a:schemeClr val="accent2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BFD-4930-BE66-64C6DE00B0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val>
            <c:numRef>
              <c:f>Sheet1!$B$14:$B$18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FD-4930-BE66-64C6DE00B03A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Sheet1!$B$8:$L$8</c:f>
              <c:numCache>
                <c:formatCode>General</c:formatCode>
                <c:ptCount val="11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  <c:pt idx="5">
                  <c:v>144.5</c:v>
                </c:pt>
                <c:pt idx="6">
                  <c:v>129.5</c:v>
                </c:pt>
                <c:pt idx="7">
                  <c:v>153</c:v>
                </c:pt>
                <c:pt idx="8">
                  <c:v>162</c:v>
                </c:pt>
                <c:pt idx="9">
                  <c:v>129</c:v>
                </c:pt>
                <c:pt idx="10">
                  <c:v>159.5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51-435C-B839-91A0677767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Sheet1!$B$10:$L$10</c:f>
              <c:numCache>
                <c:formatCode>General</c:formatCode>
                <c:ptCount val="11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  <c:pt idx="5">
                  <c:v>159</c:v>
                </c:pt>
                <c:pt idx="6">
                  <c:v>130.5</c:v>
                </c:pt>
                <c:pt idx="7">
                  <c:v>161</c:v>
                </c:pt>
                <c:pt idx="8">
                  <c:v>163</c:v>
                </c:pt>
                <c:pt idx="9">
                  <c:v>129</c:v>
                </c:pt>
                <c:pt idx="10">
                  <c:v>157.5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51-435C-B839-91A067776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Sheet1!$B$9:$L$9</c:f>
              <c:numCache>
                <c:formatCode>General</c:formatCode>
                <c:ptCount val="11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  <c:pt idx="5">
                  <c:v>0.56999999999999995</c:v>
                </c:pt>
                <c:pt idx="6">
                  <c:v>0.71399999999999997</c:v>
                </c:pt>
                <c:pt idx="7">
                  <c:v>0.78600000000000003</c:v>
                </c:pt>
                <c:pt idx="8">
                  <c:v>0.56999999999999995</c:v>
                </c:pt>
                <c:pt idx="9">
                  <c:v>0.78600000000000003</c:v>
                </c:pt>
                <c:pt idx="10">
                  <c:v>0.92900000000000005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2F-4C67-9F1C-65B91DDA352E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Sheet1!$B$11:$L$11</c:f>
              <c:numCache>
                <c:formatCode>General</c:formatCode>
                <c:ptCount val="11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0.5</c:v>
                </c:pt>
                <c:pt idx="6">
                  <c:v>0.625</c:v>
                </c:pt>
                <c:pt idx="7">
                  <c:v>0.875</c:v>
                </c:pt>
                <c:pt idx="8">
                  <c:v>0.625</c:v>
                </c:pt>
                <c:pt idx="9">
                  <c:v>0.5</c:v>
                </c:pt>
                <c:pt idx="10">
                  <c:v>0.625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2F-4C67-9F1C-65B91DDA35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h:mm</c:formatCode>
                <c:ptCount val="7"/>
                <c:pt idx="0">
                  <c:v>0.36458333333333331</c:v>
                </c:pt>
                <c:pt idx="1">
                  <c:v>0.36458333333333331</c:v>
                </c:pt>
                <c:pt idx="2">
                  <c:v>0.36458333333333331</c:v>
                </c:pt>
                <c:pt idx="3">
                  <c:v>0.36458333333333331</c:v>
                </c:pt>
                <c:pt idx="4">
                  <c:v>0.36458333333333331</c:v>
                </c:pt>
                <c:pt idx="5">
                  <c:v>0.36458333333333331</c:v>
                </c:pt>
                <c:pt idx="6">
                  <c:v>0.36458333333333331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</c:v>
                </c:pt>
                <c:pt idx="1">
                  <c:v>84</c:v>
                </c:pt>
                <c:pt idx="2">
                  <c:v>83</c:v>
                </c:pt>
                <c:pt idx="3">
                  <c:v>86</c:v>
                </c:pt>
                <c:pt idx="4">
                  <c:v>94</c:v>
                </c:pt>
                <c:pt idx="5">
                  <c:v>94</c:v>
                </c:pt>
                <c:pt idx="6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12-413C-BB24-0A057E960B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518213744"/>
        <c:axId val="218841976"/>
      </c:lineChart>
      <c:catAx>
        <c:axId val="518213744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841976"/>
        <c:crosses val="autoZero"/>
        <c:auto val="1"/>
        <c:lblAlgn val="ctr"/>
        <c:lblOffset val="100"/>
        <c:noMultiLvlLbl val="0"/>
      </c:catAx>
      <c:valAx>
        <c:axId val="218841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8213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0845am</c:v>
                </c:pt>
                <c:pt idx="1">
                  <c:v>0850am</c:v>
                </c:pt>
                <c:pt idx="2">
                  <c:v>0855am</c:v>
                </c:pt>
                <c:pt idx="3">
                  <c:v>0900am</c:v>
                </c:pt>
                <c:pt idx="4">
                  <c:v>0905am</c:v>
                </c:pt>
                <c:pt idx="5">
                  <c:v>0910am</c:v>
                </c:pt>
                <c:pt idx="6">
                  <c:v>0915am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</c:v>
                </c:pt>
                <c:pt idx="1">
                  <c:v>84</c:v>
                </c:pt>
                <c:pt idx="2">
                  <c:v>83</c:v>
                </c:pt>
                <c:pt idx="3">
                  <c:v>86</c:v>
                </c:pt>
                <c:pt idx="4">
                  <c:v>94</c:v>
                </c:pt>
                <c:pt idx="5">
                  <c:v>94</c:v>
                </c:pt>
                <c:pt idx="6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1D-4824-8226-1DB44C2820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518213744"/>
        <c:axId val="218841976"/>
      </c:lineChart>
      <c:catAx>
        <c:axId val="518213744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841976"/>
        <c:crosses val="autoZero"/>
        <c:auto val="1"/>
        <c:lblAlgn val="ctr"/>
        <c:lblOffset val="100"/>
        <c:noMultiLvlLbl val="0"/>
      </c:catAx>
      <c:valAx>
        <c:axId val="218841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8213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1330pm</c:v>
                </c:pt>
                <c:pt idx="1">
                  <c:v>1335pm</c:v>
                </c:pt>
                <c:pt idx="2">
                  <c:v>1340pm</c:v>
                </c:pt>
                <c:pt idx="3">
                  <c:v>1345pm</c:v>
                </c:pt>
                <c:pt idx="4">
                  <c:v>1350pm</c:v>
                </c:pt>
                <c:pt idx="5">
                  <c:v>1355pm</c:v>
                </c:pt>
                <c:pt idx="6">
                  <c:v>1400pm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294</c:v>
                </c:pt>
                <c:pt idx="1">
                  <c:v>306</c:v>
                </c:pt>
                <c:pt idx="2">
                  <c:v>381</c:v>
                </c:pt>
                <c:pt idx="3">
                  <c:v>393</c:v>
                </c:pt>
                <c:pt idx="4">
                  <c:v>333</c:v>
                </c:pt>
                <c:pt idx="5">
                  <c:v>346</c:v>
                </c:pt>
                <c:pt idx="6">
                  <c:v>327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73-458F-91EB-75CBB9D90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518213744"/>
        <c:axId val="218841976"/>
      </c:lineChart>
      <c:catAx>
        <c:axId val="518213744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841976"/>
        <c:crosses val="autoZero"/>
        <c:auto val="1"/>
        <c:lblAlgn val="ctr"/>
        <c:lblOffset val="100"/>
        <c:noMultiLvlLbl val="0"/>
      </c:catAx>
      <c:valAx>
        <c:axId val="218841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8213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4B3FD-5CA6-4F8D-87DB-923C724B26AD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3DA5E-4F1F-4F9D-A982-7D5FFAF79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3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9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84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45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36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80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54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31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91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14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18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7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47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99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30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54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56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53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16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7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72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83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7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7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1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9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7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5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9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8F32-33AF-47F0-AE00-4D33ACB67E6E}" type="datetimeFigureOut">
              <a:rPr lang="en-US" smtClean="0"/>
              <a:t>5/29/2017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0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chart" Target="../charts/chart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chart" Target="../charts/chart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>
          <a:xfrm>
            <a:off x="1070421" y="2081795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Experiment result tracing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  <a:p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0421" y="2979615"/>
            <a:ext cx="34309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 working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1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>
            <a:spLocks/>
          </p:cNvSpPr>
          <p:nvPr/>
        </p:nvSpPr>
        <p:spPr>
          <a:xfrm>
            <a:off x="109129" y="385852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Analysis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741434"/>
              </p:ext>
            </p:extLst>
          </p:nvPr>
        </p:nvGraphicFramePr>
        <p:xfrm>
          <a:off x="227502" y="1015995"/>
          <a:ext cx="6539559" cy="55020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043">
                  <a:extLst>
                    <a:ext uri="{9D8B030D-6E8A-4147-A177-3AD203B41FA5}">
                      <a16:colId xmlns:a16="http://schemas.microsoft.com/office/drawing/2014/main" val="3572390363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696351628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142890693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894826100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400592422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9599485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32279995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838412296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740231640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845996292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589519669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791380454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025873509"/>
                    </a:ext>
                  </a:extLst>
                </a:gridCol>
              </a:tblGrid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_1(0225)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88884445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31521304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6502832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99052741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14742000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9:53:28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9:55:28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9:57:07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9:59:46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10:02:02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10:04:04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10:04:20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10:05:35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10:07:08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10:09:10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10:11:08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10:13:11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414635774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9:54:22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9:56:25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10:05:25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10:06:42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04377412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165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164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10(14)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133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132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009357325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79689762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_2(0225)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9961400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49325178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5097632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0731087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52985950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11:09:35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11:10:54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11:12:38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11:14:29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11:16:40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11:18:49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11:21:19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11:22:34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11:23:52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11:25:44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11:27:30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11:29:30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9380008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11:10:35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11:11:57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11:22:22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11:23:39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51380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147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140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13(14)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135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133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5926108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84412273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_3(0225)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3836843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879399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7879466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608557380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6004950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11:43:47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11:47:16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11:51:32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11:51:46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11:54:02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11:55:29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11:57:37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0:06:41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0:08:43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85586563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11:44:55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11:46:07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11:52:51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11:55:01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14090600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132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162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11(14)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137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147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4(8)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6044216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50797126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_4(0226)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818039890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9970953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69541401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97256319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425762253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11:43:28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11:47:15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11:50:12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11:53:41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11:56:05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11:57:26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 11:59:24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12:01:02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12:02:34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12:04:26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23804703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11:44:20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11:45:58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11:56:59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11:58:30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3053255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171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158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12(14)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166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140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89480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3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Case1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164.5 words/min</a:t>
            </a:r>
          </a:p>
          <a:p>
            <a:r>
              <a:rPr lang="en-US" altLang="zh-CN" dirty="0" smtClean="0"/>
              <a:t>Image Distinguish: 71.4%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132.5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854" y="1626296"/>
            <a:ext cx="3346084" cy="23273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497250" y="3752842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97250" y="6382863"/>
            <a:ext cx="2162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（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46639 points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）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79" y="4018521"/>
            <a:ext cx="3518976" cy="246328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13" y="4018521"/>
            <a:ext cx="3509962" cy="243912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775" y="1628759"/>
            <a:ext cx="3323784" cy="236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Case2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143.5 words/min</a:t>
            </a:r>
          </a:p>
          <a:p>
            <a:r>
              <a:rPr lang="en-US" altLang="zh-CN" dirty="0" smtClean="0"/>
              <a:t>Image Distinguish: 93%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134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sp>
        <p:nvSpPr>
          <p:cNvPr id="12" name="Rectangle 11"/>
          <p:cNvSpPr/>
          <p:nvPr/>
        </p:nvSpPr>
        <p:spPr>
          <a:xfrm>
            <a:off x="2497250" y="3752842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1597950"/>
            <a:ext cx="3550051" cy="249916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" b="2161"/>
          <a:stretch/>
        </p:blipFill>
        <p:spPr>
          <a:xfrm>
            <a:off x="2133333" y="4229100"/>
            <a:ext cx="3607468" cy="22955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799" y="1607545"/>
            <a:ext cx="3550051" cy="249916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709" y="4097116"/>
            <a:ext cx="3635141" cy="24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3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Case3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145 words/min</a:t>
            </a:r>
          </a:p>
          <a:p>
            <a:r>
              <a:rPr lang="en-US" altLang="zh-CN" dirty="0" smtClean="0"/>
              <a:t>Image Distinguish: 78%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142 words/min</a:t>
            </a:r>
          </a:p>
          <a:p>
            <a:r>
              <a:rPr lang="en-US" altLang="zh-CN" dirty="0" smtClean="0"/>
              <a:t>Image Distinguish: 50%</a:t>
            </a:r>
            <a:endParaRPr lang="en-US" altLang="zh-CN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1597950"/>
            <a:ext cx="3550051" cy="24991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415" y="4152314"/>
            <a:ext cx="3664966" cy="24669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672" y="4109291"/>
            <a:ext cx="3610003" cy="252169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624" y="1582526"/>
            <a:ext cx="3550051" cy="249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9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Case4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164.5 words/min</a:t>
            </a:r>
          </a:p>
          <a:p>
            <a:r>
              <a:rPr lang="en-US" altLang="zh-CN" dirty="0" smtClean="0"/>
              <a:t>Image Distinguish: 85%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153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sp>
        <p:nvSpPr>
          <p:cNvPr id="8" name="Rectangle 7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131" y="1510650"/>
            <a:ext cx="3392066" cy="2360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865" y="1510651"/>
            <a:ext cx="3504243" cy="24246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33" y="4174592"/>
            <a:ext cx="3435662" cy="23211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081" y="4165294"/>
            <a:ext cx="3434129" cy="237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2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 Comparison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674867"/>
              </p:ext>
            </p:extLst>
          </p:nvPr>
        </p:nvGraphicFramePr>
        <p:xfrm>
          <a:off x="771525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1215320"/>
              </p:ext>
            </p:extLst>
          </p:nvPr>
        </p:nvGraphicFramePr>
        <p:xfrm>
          <a:off x="6348412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/>
          <p:cNvSpPr/>
          <p:nvPr/>
        </p:nvSpPr>
        <p:spPr>
          <a:xfrm>
            <a:off x="969418" y="5119132"/>
            <a:ext cx="4818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</a:t>
            </a:r>
            <a:r>
              <a:rPr lang="en-US" altLang="zh-CN" dirty="0" err="1" smtClean="0"/>
              <a:t>Accuracy&amp;Image</a:t>
            </a:r>
            <a:r>
              <a:rPr lang="en-US" altLang="zh-CN" dirty="0" smtClean="0"/>
              <a:t> Distinguish between cases.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380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detection failure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8" y="1213890"/>
            <a:ext cx="2947988" cy="20055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25" y="1211569"/>
            <a:ext cx="2943345" cy="20102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2"/>
          <a:stretch/>
        </p:blipFill>
        <p:spPr>
          <a:xfrm>
            <a:off x="547688" y="3516618"/>
            <a:ext cx="2986087" cy="20078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7"/>
          <a:stretch/>
        </p:blipFill>
        <p:spPr>
          <a:xfrm>
            <a:off x="3702825" y="3541375"/>
            <a:ext cx="2983725" cy="200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0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Feedback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9895" y="1922340"/>
            <a:ext cx="61876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 smtClean="0"/>
              <a:t>Text test is a little bit boring. </a:t>
            </a:r>
          </a:p>
          <a:p>
            <a:pPr marL="342900" indent="-342900">
              <a:buAutoNum type="arabicPeriod"/>
            </a:pPr>
            <a:r>
              <a:rPr lang="en-US" altLang="zh-CN" dirty="0" smtClean="0"/>
              <a:t>Image test is interesting. </a:t>
            </a:r>
          </a:p>
          <a:p>
            <a:pPr marL="342900" indent="-342900">
              <a:buAutoNum type="arabicPeriod"/>
            </a:pPr>
            <a:r>
              <a:rPr lang="en-US" altLang="zh-CN" dirty="0" smtClean="0"/>
              <a:t>When glare is severe, feels frustrated/painful.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79895" y="3589215"/>
            <a:ext cx="93499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Problem: </a:t>
            </a:r>
            <a:r>
              <a:rPr lang="en-US" altLang="zh-CN" dirty="0" err="1" smtClean="0"/>
              <a:t>Rotation&amp;tilting</a:t>
            </a:r>
            <a:r>
              <a:rPr lang="en-US" altLang="zh-CN" dirty="0" smtClean="0"/>
              <a:t> tracking crushed in </a:t>
            </a:r>
            <a:r>
              <a:rPr lang="en-US" altLang="zh-CN" dirty="0" err="1" smtClean="0"/>
              <a:t>Spyder</a:t>
            </a:r>
            <a:r>
              <a:rPr lang="en-US" altLang="zh-CN" dirty="0" smtClean="0"/>
              <a:t> console. Solution: Use sublime. </a:t>
            </a:r>
          </a:p>
          <a:p>
            <a:r>
              <a:rPr lang="en-US" altLang="zh-CN" dirty="0" smtClean="0"/>
              <a:t>                 Facial detection lost data. 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55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3527" y="2123996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1122145" y="335882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1123527" y="2564440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151.5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1122145" y="3799271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9352006"/>
              </p:ext>
            </p:extLst>
          </p:nvPr>
        </p:nvGraphicFramePr>
        <p:xfrm>
          <a:off x="4991156" y="714809"/>
          <a:ext cx="4829174" cy="2645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34185"/>
              </p:ext>
            </p:extLst>
          </p:nvPr>
        </p:nvGraphicFramePr>
        <p:xfrm>
          <a:off x="4991156" y="3683884"/>
          <a:ext cx="4829174" cy="264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0896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3527" y="2123996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1122145" y="335882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1123527" y="2564440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151.5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1122145" y="3799271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" b="2161"/>
          <a:stretch/>
        </p:blipFill>
        <p:spPr>
          <a:xfrm>
            <a:off x="5744040" y="798146"/>
            <a:ext cx="3607468" cy="2295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367" y="3358827"/>
            <a:ext cx="3635141" cy="24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648" y="2334114"/>
            <a:ext cx="4906475" cy="32225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1314" y="175466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2017-04-28 11:56:17 259,46 61.1940298507</a:t>
            </a:r>
          </a:p>
          <a:p>
            <a:r>
              <a:rPr lang="en-US" sz="1400" dirty="0"/>
              <a:t>2017-04-28 11:56:18 268,76 488.095238095</a:t>
            </a:r>
          </a:p>
          <a:p>
            <a:r>
              <a:rPr lang="en-US" sz="1400" dirty="0"/>
              <a:t>2017-04-28 11:56:18 269,77 512.5</a:t>
            </a:r>
          </a:p>
          <a:p>
            <a:r>
              <a:rPr lang="en-US" sz="1400" dirty="0"/>
              <a:t>2017-04-28 11:56:18 271,77 512.5</a:t>
            </a:r>
          </a:p>
          <a:p>
            <a:r>
              <a:rPr lang="en-US" sz="1400" dirty="0"/>
              <a:t>2017-04-28 11:56:18 165,268 500.0</a:t>
            </a:r>
          </a:p>
          <a:p>
            <a:r>
              <a:rPr lang="en-US" sz="1400" dirty="0"/>
              <a:t>2017-04-28 11:56:18 204,393 301.470588235</a:t>
            </a:r>
          </a:p>
          <a:p>
            <a:r>
              <a:rPr lang="en-US" sz="1400" dirty="0"/>
              <a:t>2017-04-28 11:56:18 290,180 488.095238095</a:t>
            </a:r>
          </a:p>
          <a:p>
            <a:r>
              <a:rPr lang="en-US" sz="1400" dirty="0"/>
              <a:t>2017-04-28 11:56:18 202,386 250.0</a:t>
            </a:r>
          </a:p>
          <a:p>
            <a:r>
              <a:rPr lang="en-US" sz="1400" dirty="0"/>
              <a:t>2017-04-28 11:56:19 270,78 525.641025641</a:t>
            </a:r>
          </a:p>
          <a:p>
            <a:r>
              <a:rPr lang="en-US" sz="1400" dirty="0"/>
              <a:t>2017-04-28 11:56:19 272,77 525.641025641</a:t>
            </a:r>
          </a:p>
          <a:p>
            <a:r>
              <a:rPr lang="en-US" sz="1400" dirty="0"/>
              <a:t>2017-04-28 11:56:19 331,348 225.274725275</a:t>
            </a:r>
          </a:p>
          <a:p>
            <a:r>
              <a:rPr lang="en-US" sz="1400" dirty="0"/>
              <a:t>2017-04-28 11:56:20 30,118 427.083333333</a:t>
            </a:r>
          </a:p>
          <a:p>
            <a:r>
              <a:rPr lang="en-US" sz="1400" dirty="0"/>
              <a:t>2017-04-28 11:56:20 311,194 539.473684211</a:t>
            </a:r>
          </a:p>
          <a:p>
            <a:r>
              <a:rPr lang="en-US" sz="1400" dirty="0"/>
              <a:t>2017-04-28 11:56:20 318,199 585.714285714</a:t>
            </a:r>
          </a:p>
          <a:p>
            <a:r>
              <a:rPr lang="en-US" sz="1400" dirty="0"/>
              <a:t>2017-04-28 11:56:22 271,76 512.5</a:t>
            </a:r>
          </a:p>
          <a:p>
            <a:r>
              <a:rPr lang="en-US" sz="1400" dirty="0"/>
              <a:t>2017-04-28 11:56:23 311,201 640.625</a:t>
            </a:r>
          </a:p>
          <a:p>
            <a:r>
              <a:rPr lang="en-US" sz="1400" dirty="0"/>
              <a:t>2017-04-28 11:56:23 310,199 512.5</a:t>
            </a:r>
          </a:p>
          <a:p>
            <a:r>
              <a:rPr lang="en-US" sz="1400" dirty="0"/>
              <a:t>2017-04-28 11:56:23 311,198 512.5</a:t>
            </a:r>
          </a:p>
          <a:p>
            <a:r>
              <a:rPr lang="en-US" sz="1400" dirty="0"/>
              <a:t>2017-04-28 11:56:23 311,198 512.5</a:t>
            </a:r>
          </a:p>
          <a:p>
            <a:r>
              <a:rPr lang="en-US" sz="1400" dirty="0"/>
              <a:t>2017-04-28 12:13:51 125,5 0.0</a:t>
            </a:r>
          </a:p>
          <a:p>
            <a:r>
              <a:rPr lang="en-US" sz="1400" dirty="0"/>
              <a:t>2017-04-28 12:13:51 148,134 0.0</a:t>
            </a:r>
          </a:p>
          <a:p>
            <a:r>
              <a:rPr lang="en-US" sz="1400" dirty="0"/>
              <a:t>2017-04-28 12:13:51 130,6 0.0</a:t>
            </a:r>
          </a:p>
        </p:txBody>
      </p:sp>
    </p:spTree>
    <p:extLst>
      <p:ext uri="{BB962C8B-B14F-4D97-AF65-F5344CB8AC3E}">
        <p14:creationId xmlns:p14="http://schemas.microsoft.com/office/powerpoint/2010/main" val="107101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Reorganize the data structure flow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384" y="3928439"/>
            <a:ext cx="2172677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Control data collected from GUI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9383" y="2060857"/>
            <a:ext cx="217267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Basic information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24476" y="1999924"/>
            <a:ext cx="1238741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Paper test </a:t>
            </a:r>
            <a:r>
              <a:rPr lang="en-US" dirty="0" err="1" smtClean="0"/>
              <a:t>test</a:t>
            </a:r>
            <a:r>
              <a:rPr lang="en-US" dirty="0" smtClean="0"/>
              <a:t> time for each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475" y="3844379"/>
            <a:ext cx="1238742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Ipad</a:t>
            </a:r>
            <a:r>
              <a:rPr lang="en-US" dirty="0" smtClean="0"/>
              <a:t> test time for each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96261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55427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96260" y="227275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55427" y="2271497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996257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55426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996256" y="3595811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555429" y="359290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96255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55428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996255" y="464694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55427" y="4646152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36039" y="1149556"/>
            <a:ext cx="155917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Input accuracy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022770" y="5297088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Motion data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794167" y="5971090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124475" y="5967099"/>
            <a:ext cx="1238742" cy="36922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Total time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114593" y="1747184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114593" y="2534539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114593" y="3592905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114593" y="4380260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224858" y="5298773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Facial data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996253" y="5963805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301748" y="3063722"/>
            <a:ext cx="143059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Visualization Model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0507219" y="5825305"/>
            <a:ext cx="1046141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Solar data</a:t>
            </a:r>
            <a:endParaRPr lang="en-US" dirty="0"/>
          </a:p>
        </p:txBody>
      </p:sp>
      <p:cxnSp>
        <p:nvCxnSpPr>
          <p:cNvPr id="39" name="Elbow Connector 38"/>
          <p:cNvCxnSpPr>
            <a:stCxn id="6" idx="1"/>
            <a:endCxn id="26" idx="1"/>
          </p:cNvCxnSpPr>
          <p:nvPr/>
        </p:nvCxnSpPr>
        <p:spPr>
          <a:xfrm rot="10800000" flipV="1">
            <a:off x="3124476" y="2461588"/>
            <a:ext cx="1" cy="3690121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" idx="0"/>
          </p:cNvCxnSpPr>
          <p:nvPr/>
        </p:nvCxnSpPr>
        <p:spPr>
          <a:xfrm flipV="1">
            <a:off x="1535723" y="2456163"/>
            <a:ext cx="0" cy="147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" idx="3"/>
          </p:cNvCxnSpPr>
          <p:nvPr/>
        </p:nvCxnSpPr>
        <p:spPr>
          <a:xfrm flipV="1">
            <a:off x="2622061" y="4251604"/>
            <a:ext cx="2612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5" idx="1"/>
            <a:endCxn id="19" idx="1"/>
          </p:cNvCxnSpPr>
          <p:nvPr/>
        </p:nvCxnSpPr>
        <p:spPr>
          <a:xfrm rot="10800000" flipV="1">
            <a:off x="4996256" y="3780477"/>
            <a:ext cx="1" cy="1051134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9" idx="1"/>
            <a:endCxn id="13" idx="1"/>
          </p:cNvCxnSpPr>
          <p:nvPr/>
        </p:nvCxnSpPr>
        <p:spPr>
          <a:xfrm rot="10800000" flipV="1">
            <a:off x="4996257" y="1931849"/>
            <a:ext cx="4" cy="1053247"/>
          </a:xfrm>
          <a:prstGeom prst="bentConnector3">
            <a:avLst>
              <a:gd name="adj1" fmla="val 5715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1" idx="2"/>
            <a:endCxn id="9" idx="0"/>
          </p:cNvCxnSpPr>
          <p:nvPr/>
        </p:nvCxnSpPr>
        <p:spPr>
          <a:xfrm>
            <a:off x="5615625" y="1518888"/>
            <a:ext cx="7" cy="22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6" idx="3"/>
          </p:cNvCxnSpPr>
          <p:nvPr/>
        </p:nvCxnSpPr>
        <p:spPr>
          <a:xfrm>
            <a:off x="4363217" y="2461589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7" idx="3"/>
          </p:cNvCxnSpPr>
          <p:nvPr/>
        </p:nvCxnSpPr>
        <p:spPr>
          <a:xfrm>
            <a:off x="4363217" y="4306044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0" idx="3"/>
            <a:endCxn id="28" idx="1"/>
          </p:cNvCxnSpPr>
          <p:nvPr/>
        </p:nvCxnSpPr>
        <p:spPr>
          <a:xfrm>
            <a:off x="7794168" y="1931850"/>
            <a:ext cx="320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6" idx="3"/>
            <a:endCxn id="30" idx="1"/>
          </p:cNvCxnSpPr>
          <p:nvPr/>
        </p:nvCxnSpPr>
        <p:spPr>
          <a:xfrm>
            <a:off x="7794170" y="3777571"/>
            <a:ext cx="320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8" idx="3"/>
            <a:endCxn id="20" idx="3"/>
          </p:cNvCxnSpPr>
          <p:nvPr/>
        </p:nvCxnSpPr>
        <p:spPr>
          <a:xfrm flipH="1">
            <a:off x="7794168" y="4306044"/>
            <a:ext cx="1" cy="52477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12" idx="3"/>
            <a:endCxn id="14" idx="3"/>
          </p:cNvCxnSpPr>
          <p:nvPr/>
        </p:nvCxnSpPr>
        <p:spPr>
          <a:xfrm flipH="1">
            <a:off x="7794167" y="2456163"/>
            <a:ext cx="1" cy="52893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3" idx="2"/>
            <a:endCxn id="36" idx="0"/>
          </p:cNvCxnSpPr>
          <p:nvPr/>
        </p:nvCxnSpPr>
        <p:spPr>
          <a:xfrm flipH="1">
            <a:off x="6004443" y="5668105"/>
            <a:ext cx="1" cy="29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22" idx="2"/>
            <a:endCxn id="25" idx="0"/>
          </p:cNvCxnSpPr>
          <p:nvPr/>
        </p:nvCxnSpPr>
        <p:spPr>
          <a:xfrm>
            <a:off x="8802356" y="5666420"/>
            <a:ext cx="1" cy="304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28" idx="3"/>
            <a:endCxn id="31" idx="3"/>
          </p:cNvCxnSpPr>
          <p:nvPr/>
        </p:nvCxnSpPr>
        <p:spPr>
          <a:xfrm>
            <a:off x="9673764" y="1931850"/>
            <a:ext cx="12700" cy="2633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26" idx="3"/>
            <a:endCxn id="36" idx="1"/>
          </p:cNvCxnSpPr>
          <p:nvPr/>
        </p:nvCxnSpPr>
        <p:spPr>
          <a:xfrm flipV="1">
            <a:off x="4363217" y="6148471"/>
            <a:ext cx="633036" cy="3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36" idx="3"/>
            <a:endCxn id="25" idx="1"/>
          </p:cNvCxnSpPr>
          <p:nvPr/>
        </p:nvCxnSpPr>
        <p:spPr>
          <a:xfrm>
            <a:off x="7012632" y="6148471"/>
            <a:ext cx="781535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5" idx="3"/>
            <a:endCxn id="38" idx="1"/>
          </p:cNvCxnSpPr>
          <p:nvPr/>
        </p:nvCxnSpPr>
        <p:spPr>
          <a:xfrm flipV="1">
            <a:off x="9810546" y="6148471"/>
            <a:ext cx="696673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38" idx="0"/>
            <a:endCxn id="37" idx="2"/>
          </p:cNvCxnSpPr>
          <p:nvPr/>
        </p:nvCxnSpPr>
        <p:spPr>
          <a:xfrm flipH="1" flipV="1">
            <a:off x="11017045" y="3710053"/>
            <a:ext cx="13245" cy="2115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3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Case6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3527" y="2754139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8" name="Rectangle 7"/>
          <p:cNvSpPr/>
          <p:nvPr/>
        </p:nvSpPr>
        <p:spPr>
          <a:xfrm>
            <a:off x="1122145" y="3988970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9" name="Rectangle 8"/>
          <p:cNvSpPr/>
          <p:nvPr/>
        </p:nvSpPr>
        <p:spPr>
          <a:xfrm>
            <a:off x="1123527" y="3194583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144.5 words/min</a:t>
            </a:r>
          </a:p>
          <a:p>
            <a:r>
              <a:rPr lang="en-US" altLang="zh-CN" dirty="0" smtClean="0"/>
              <a:t>Image Distinguish: 57%</a:t>
            </a:r>
            <a:endParaRPr lang="en-US" altLang="zh-CN" dirty="0"/>
          </a:p>
        </p:txBody>
      </p:sp>
      <p:sp>
        <p:nvSpPr>
          <p:cNvPr id="10" name="Rectangle 9"/>
          <p:cNvSpPr/>
          <p:nvPr/>
        </p:nvSpPr>
        <p:spPr>
          <a:xfrm>
            <a:off x="1122145" y="4429414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159 words/min</a:t>
            </a:r>
          </a:p>
          <a:p>
            <a:r>
              <a:rPr lang="en-US" altLang="zh-CN" dirty="0" smtClean="0"/>
              <a:t>Image Distinguish: 50%</a:t>
            </a:r>
            <a:endParaRPr lang="en-US" altLang="zh-C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645" y="2406413"/>
            <a:ext cx="4933497" cy="35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8993" y="1998701"/>
            <a:ext cx="4805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Distance analysis: Remove number &gt; 3rd </a:t>
            </a:r>
            <a:r>
              <a:rPr lang="en-US" dirty="0"/>
              <a:t>quantile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93" y="2724943"/>
            <a:ext cx="3833813" cy="272891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5065486" y="4089399"/>
            <a:ext cx="10377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938" y="2689224"/>
            <a:ext cx="3957638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6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9" t="5225" r="7613" b="8998"/>
          <a:stretch/>
        </p:blipFill>
        <p:spPr>
          <a:xfrm>
            <a:off x="4498258" y="1441872"/>
            <a:ext cx="7150097" cy="49423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8171" y="2151101"/>
            <a:ext cx="2763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How to normalize position?</a:t>
            </a:r>
          </a:p>
          <a:p>
            <a:r>
              <a:rPr lang="en-US" altLang="zh-CN" dirty="0" smtClean="0"/>
              <a:t>Reverse relationship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50345" y="62778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1290358" y="6277830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600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086582" y="1441872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450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28170" y="1854655"/>
            <a:ext cx="1837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Camera: 640*480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93" y="4804448"/>
            <a:ext cx="1880204" cy="13879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466" y="4813345"/>
            <a:ext cx="1874273" cy="137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8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Text test and preference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4186662"/>
              </p:ext>
            </p:extLst>
          </p:nvPr>
        </p:nvGraphicFramePr>
        <p:xfrm>
          <a:off x="7242908" y="2057578"/>
          <a:ext cx="5140225" cy="3084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2366353"/>
              </p:ext>
            </p:extLst>
          </p:nvPr>
        </p:nvGraphicFramePr>
        <p:xfrm>
          <a:off x="195657" y="1853832"/>
          <a:ext cx="7475143" cy="3979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6979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Image test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639803"/>
              </p:ext>
            </p:extLst>
          </p:nvPr>
        </p:nvGraphicFramePr>
        <p:xfrm>
          <a:off x="652857" y="1861054"/>
          <a:ext cx="7475143" cy="397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739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Face position: case 8 analysis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8256" y="4026807"/>
            <a:ext cx="117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84469" y="4026806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82643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33556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98" y="2062745"/>
            <a:ext cx="2730568" cy="1886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254" y="2110952"/>
            <a:ext cx="2761558" cy="18387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98" y="2097178"/>
            <a:ext cx="2699578" cy="18525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63" y="2073534"/>
            <a:ext cx="2720238" cy="18766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7419" y="3517899"/>
            <a:ext cx="486697" cy="1691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639092" y="3343276"/>
            <a:ext cx="793208" cy="3438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76160" y="2329816"/>
            <a:ext cx="323850" cy="3028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913813" y="2329816"/>
            <a:ext cx="323850" cy="3028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262068" y="3299603"/>
            <a:ext cx="323850" cy="148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03355" y="3481546"/>
            <a:ext cx="332908" cy="225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947742" y="3483375"/>
            <a:ext cx="397995" cy="225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520938" y="3481546"/>
            <a:ext cx="397995" cy="225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1314" y="1379374"/>
            <a:ext cx="24563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case8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_0517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gender/m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glass/n</a:t>
            </a:r>
            <a:r>
              <a:rPr lang="en-US" sz="1400" dirty="0"/>
              <a:t> </a:t>
            </a:r>
          </a:p>
        </p:txBody>
      </p:sp>
      <p:graphicFrame>
        <p:nvGraphicFramePr>
          <p:cNvPr id="25" name="Chart 24"/>
          <p:cNvGraphicFramePr/>
          <p:nvPr>
            <p:extLst>
              <p:ext uri="{D42A27DB-BD31-4B8C-83A1-F6EECF244321}">
                <p14:modId xmlns:p14="http://schemas.microsoft.com/office/powerpoint/2010/main" val="2103839778"/>
              </p:ext>
            </p:extLst>
          </p:nvPr>
        </p:nvGraphicFramePr>
        <p:xfrm>
          <a:off x="443914" y="5044647"/>
          <a:ext cx="4607409" cy="1699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7" name="Rectangle 26"/>
          <p:cNvSpPr/>
          <p:nvPr/>
        </p:nvSpPr>
        <p:spPr>
          <a:xfrm>
            <a:off x="465308" y="4861793"/>
            <a:ext cx="13548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Solar Rad, W/m^2</a:t>
            </a:r>
            <a:r>
              <a:rPr lang="en-US" sz="1200" dirty="0"/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4900" y="4830941"/>
            <a:ext cx="16106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(0517 data missing)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7672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Face position: case 9 analysis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8256" y="4026807"/>
            <a:ext cx="117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84469" y="4026806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982643" y="4026805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33556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2011648"/>
            <a:ext cx="2763100" cy="18754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655" y="1970201"/>
            <a:ext cx="2814908" cy="19169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987" y="1984035"/>
            <a:ext cx="2759646" cy="19341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50" y="2018333"/>
            <a:ext cx="2763100" cy="192380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01849" y="2184124"/>
            <a:ext cx="353757" cy="3438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85418" y="2310329"/>
            <a:ext cx="848520" cy="411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287159" y="2668469"/>
            <a:ext cx="187811" cy="246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992938" y="2392957"/>
            <a:ext cx="234523" cy="246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278688" y="2392957"/>
            <a:ext cx="234523" cy="246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057607" y="2356034"/>
            <a:ext cx="288924" cy="303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933964" y="2611364"/>
            <a:ext cx="174567" cy="1270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1224476" y="2787576"/>
            <a:ext cx="174567" cy="1270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1314" y="1308387"/>
            <a:ext cx="23553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case9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_0525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gender/f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glass/y</a:t>
            </a:r>
            <a:r>
              <a:rPr lang="en-US" sz="1400" dirty="0"/>
              <a:t> </a:t>
            </a:r>
          </a:p>
        </p:txBody>
      </p:sp>
      <p:graphicFrame>
        <p:nvGraphicFramePr>
          <p:cNvPr id="21" name="Chart 20"/>
          <p:cNvGraphicFramePr/>
          <p:nvPr>
            <p:extLst>
              <p:ext uri="{D42A27DB-BD31-4B8C-83A1-F6EECF244321}">
                <p14:modId xmlns:p14="http://schemas.microsoft.com/office/powerpoint/2010/main" val="1697083001"/>
              </p:ext>
            </p:extLst>
          </p:nvPr>
        </p:nvGraphicFramePr>
        <p:xfrm>
          <a:off x="421791" y="5044647"/>
          <a:ext cx="4607409" cy="1699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2" name="Rectangle 21"/>
          <p:cNvSpPr/>
          <p:nvPr/>
        </p:nvSpPr>
        <p:spPr>
          <a:xfrm>
            <a:off x="443185" y="4861793"/>
            <a:ext cx="13548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Solar Rad, W/m^2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968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8256" y="4026807"/>
            <a:ext cx="117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84469" y="4026806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Ipad</a:t>
            </a:r>
            <a:r>
              <a:rPr lang="en-US" altLang="zh-CN" dirty="0" smtClean="0"/>
              <a:t>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82643" y="4026805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image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33556" y="4026804"/>
            <a:ext cx="1681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Paper text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314" y="1016000"/>
            <a:ext cx="416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Face position: case </a:t>
            </a:r>
            <a:r>
              <a:rPr lang="en-US" altLang="zh-CN" dirty="0" smtClean="0"/>
              <a:t>11 </a:t>
            </a:r>
            <a:r>
              <a:rPr lang="en-US" altLang="zh-CN" dirty="0" smtClean="0"/>
              <a:t>analysis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3" y="1850991"/>
            <a:ext cx="2974110" cy="207331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045" y="1851188"/>
            <a:ext cx="2944332" cy="20584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377" y="1850991"/>
            <a:ext cx="2918275" cy="199514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709" y="1815630"/>
            <a:ext cx="2988999" cy="20658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34011" y="2929644"/>
            <a:ext cx="712389" cy="692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420707" y="2929644"/>
            <a:ext cx="712389" cy="692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699251" y="3263899"/>
            <a:ext cx="467458" cy="326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578343" y="2929644"/>
            <a:ext cx="241557" cy="270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1314" y="1276695"/>
            <a:ext cx="25349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case11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_0526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gender/m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glass/y</a:t>
            </a:r>
            <a:r>
              <a:rPr lang="en-US" sz="1400" dirty="0"/>
              <a:t> </a:t>
            </a:r>
          </a:p>
        </p:txBody>
      </p:sp>
      <p:graphicFrame>
        <p:nvGraphicFramePr>
          <p:cNvPr id="22" name="Chart 21"/>
          <p:cNvGraphicFramePr/>
          <p:nvPr>
            <p:extLst>
              <p:ext uri="{D42A27DB-BD31-4B8C-83A1-F6EECF244321}">
                <p14:modId xmlns:p14="http://schemas.microsoft.com/office/powerpoint/2010/main" val="1069242960"/>
              </p:ext>
            </p:extLst>
          </p:nvPr>
        </p:nvGraphicFramePr>
        <p:xfrm>
          <a:off x="443914" y="5044647"/>
          <a:ext cx="4607409" cy="1699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Rectangle 22"/>
          <p:cNvSpPr/>
          <p:nvPr/>
        </p:nvSpPr>
        <p:spPr>
          <a:xfrm>
            <a:off x="465308" y="4861793"/>
            <a:ext cx="13548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Solar Rad, W/m^2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088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314" y="1016000"/>
            <a:ext cx="41683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 smtClean="0"/>
          </a:p>
          <a:p>
            <a:r>
              <a:rPr lang="en-US" altLang="zh-CN" dirty="0" smtClean="0"/>
              <a:t>1. How to project the face position</a:t>
            </a:r>
          </a:p>
          <a:p>
            <a:r>
              <a:rPr lang="en-US" altLang="zh-CN" dirty="0" smtClean="0"/>
              <a:t>to the visualization model?</a:t>
            </a:r>
          </a:p>
          <a:p>
            <a:r>
              <a:rPr lang="en-US" altLang="zh-CN" dirty="0" smtClean="0"/>
              <a:t>2. More data.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" b="26582"/>
          <a:stretch/>
        </p:blipFill>
        <p:spPr>
          <a:xfrm>
            <a:off x="4055806" y="1244834"/>
            <a:ext cx="764634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3458</TotalTime>
  <Words>774</Words>
  <Application>Microsoft Office PowerPoint</Application>
  <PresentationFormat>Widescreen</PresentationFormat>
  <Paragraphs>489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 Unicode MS</vt:lpstr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Jiamin Sun</dc:creator>
  <cp:lastModifiedBy>Jiamin Sun</cp:lastModifiedBy>
  <cp:revision>414</cp:revision>
  <dcterms:created xsi:type="dcterms:W3CDTF">2017-01-30T00:21:28Z</dcterms:created>
  <dcterms:modified xsi:type="dcterms:W3CDTF">2017-05-29T17:41:53Z</dcterms:modified>
</cp:coreProperties>
</file>